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71" r:id="rId5"/>
    <p:sldId id="272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970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348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Welcome! Introduce the project: Library Management System built to digitize Phenikaa University Library's borrowing workflow. Mention the team, supervisor TS. Nguyễn Thanh Bình, and the academic year. This is a full-stack web application built with Java 21 and Spring Boot.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briefly. Let the audience know we will cover the system design, all features, tech stack, and testing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real pain point: Phenikaa University Library manages borrowing for thousands of users with a paper-based process. Our system digitizes the entire 8-step workflow defined in the official QT.03.TV.DV regulation, from self-service requests to overdue fine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2BB5B-9BFB-BADF-8481-682F9749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9B8DFF-FBAE-1F15-B533-5954320FC3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6CB309-DA01-62D4-18DF-8D6FAC851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briefly. Let the audience know we will cover the system design, all features, tech stack, and testing results.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83749-B8FE-2F60-24D5-16438AAB0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6836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ABB82-B392-3779-4972-DAA07E3DF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DF8C1-9639-1DEA-0F0C-11CE60A70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E0C98E-3944-BD1D-47C0-121728353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briefly. Let the audience know we will cover the system design, all features, tech stack, and testing results.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F13E9-4AA7-4184-E525-415D75C5AC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001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core goal: faithfully implement the official university regulation as a working web system. Point out what is deliberately out of scope — these are documented as future work, not forgotten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7 functional requirements — emphasize FR-3 (cart + validation) and FR-5 (fine calculation) as the most complex. For non-functional: stress that @Transactional prevents partial state, and RuleEngine keeps business logic centralized.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5-layer MVC architecture. Emphasize: controllers contain NO business logic — all rules are in RuleEngine and Services. The Rule Engine is a Spring @Component injected wherever rule validation is needed. Ask: 'Why separate RuleEngine from Service?' — Answer: single responsibility, testable in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5 tables. Key relationship: one User → many Loans → many LoanDetails → one Book each. BorrowingRule is a lookup keyed on (role × doc_type) — 12 rules covering 3 roles × 4 doc types. Highlight that borrow_days=NULL means unlimited (used for Lecturer textbooks).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client-facing features. Demo flow: login as student01 → search → add to cart → submit. Highlight Feature 04: the 3-layer validation is the heart of the system — it checks account status, overdue items, cart total, and per-type quotas before allowing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admin-facing features completing the total of 18. Feature 09 (Approve) and 11 (Return) are the most complex — they involve multi-table updates in a single transaction. Mention that Bug #1 was found here: cancelLoan() wasn't saving due to a detached entity (LazyInitializationException). Fixed by moving logic to LoanService @Transactional.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stack is deliberately standard and maintainable: Java ecosystem, familiar Spring Boot conventions. H2 removes setup friction during development. The Bootstrap 5 UI requires no custom JavaScript for most interactions. Emphasize why Java 21 — it's LTS and enables modern language features like records used in DTOs.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key algorithms: (1) The 3-layer validation in RuleEngine — runs before every loan submission, fail-fast on account issues. (2) Fine calculation uses Java LocalDate arithmetic — null dueDate means unlimited (Lecturer). The renewal guard contains fixes for Bug #2 (ownership bypass) and Bug #3 (renewing returned 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10 manual test scenarios passed. Tests cover happy path, edge cases (locked account, quota exceeded, RESTRICTED doc), and admin workflow. T-07 requires manually setting a past due_date in H2 console to simulate overdue — demonstrate this in the live demo if time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real bugs found during development — not invented. Bug #1 (data loss) and Bug #2 (security IDOR) are the most serious. Emphasize: we identified and fixed these by looking at what Spring's @Transactional actually guarantees and thinking carefully about ownership checks. The design challenge shows we chose a database-driven rule approach instead of hard-coding.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the key numbers: 18 features, 5 tables, 12 rules, 10 tests all passing, 3 bugs fixed. Emphasize compliance: we didn't design the rules — we read the official QT.03.TV.DV document and implemented it exactly. This is verifiable: each rule in data.sql matches the PDF table line by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what the team learned — not just the tech, but the process: reading a regulation document and translating it to software, debugging transactional issues, fixing a security vulnerability. Roadmap shows we understand the product isn't done — these are concrete, prioritized next steps. Invite questions and offer a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4635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9Slide.vn - 2019">
            <a:extLst>
              <a:ext uri="{FF2B5EF4-FFF2-40B4-BE49-F238E27FC236}">
                <a16:creationId xmlns:a16="http://schemas.microsoft.com/office/drawing/2014/main" id="{4BA02655-BFB8-B398-D9B0-083628BD474C}"/>
              </a:ext>
            </a:extLst>
          </p:cNvPr>
          <p:cNvSpPr txBox="1"/>
          <p:nvPr userDrawn="1"/>
        </p:nvSpPr>
        <p:spPr>
          <a:xfrm>
            <a:off x="0" y="-712232"/>
            <a:ext cx="9144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800">
                <a:solidFill>
                  <a:srgbClr val="CFCFCF"/>
                </a:solidFill>
              </a:rPr>
              <a:t>www.9slide.vn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321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Library Management System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11480" y="1417320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Digitizing the Document Borrowing Process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i="1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Phenikaa University Library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43200" y="2176272"/>
            <a:ext cx="3657600" cy="4572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8046720" cy="1600200"/>
          </a:xfrm>
          <a:prstGeom prst="roundRect">
            <a:avLst>
              <a:gd name="adj" fmla="val 6857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770632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Thị Thu Hà  ·  Bùi Thanh Thảo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118104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Phạm Minh Tuyên  ·  Lê Hà Hải Vân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560320" cy="749808"/>
          </a:xfrm>
          <a:prstGeom prst="roundRect">
            <a:avLst>
              <a:gd name="adj" fmla="val 14634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43159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TS. Nguyễn Thanh Bình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10712" y="4069080"/>
            <a:ext cx="2560320" cy="749808"/>
          </a:xfrm>
          <a:prstGeom prst="roundRect">
            <a:avLst>
              <a:gd name="adj" fmla="val 14634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02152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02152" y="43159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vi-VN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vi-VN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4069080"/>
            <a:ext cx="2560320" cy="749808"/>
          </a:xfrm>
          <a:prstGeom prst="roundRect">
            <a:avLst>
              <a:gd name="adj" fmla="val 14634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64224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64224" y="43159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vi-VN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</a:t>
            </a: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vi-VN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66928" y="103327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0332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101498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Motivation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99616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66928" y="1572768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" y="157276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32688" y="1554480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 &amp; Scope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039112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66928" y="2112264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" y="211226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32688" y="2093976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578608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66928" y="2651760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265176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2688" y="2633472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118104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66928" y="3191256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66928" y="319125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32688" y="3172968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365760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6928" y="373075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66928" y="373075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32688" y="371246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— Part 1 (Client)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197096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66928" y="4270248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66928" y="427024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2688" y="4251960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— Part 2 (Admin)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754880" y="96012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64608" y="103327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64608" y="10332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30368" y="101498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754880" y="1499616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864608" y="1572768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864608" y="157276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230368" y="1554480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Highlights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754880" y="2039112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864608" y="2112264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64608" y="211226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12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230368" y="2093976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754880" y="2578608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864608" y="2651760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864608" y="265176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13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30368" y="2633472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754880" y="3118104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864608" y="3191256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864608" y="319125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14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30368" y="3172968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Achievements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754880" y="365760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864608" y="373075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864608" y="373075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15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230368" y="371246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&amp; Motivation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406908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069080" cy="4206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95097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" y="141732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Paper-based library cards are slow and error-prone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loan slips are hard to audit and trace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fines calculated by hand — inconsistent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digital history for readers or administrators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students served each semester at Phenikaa University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932688"/>
            <a:ext cx="393192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932688"/>
            <a:ext cx="3931920" cy="420624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64608" y="950976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64608" y="1417320"/>
            <a:ext cx="37033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web application (Spring Boot + Thymeleaf)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official QT.03.TV.DV regulation exactly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Cart-based self-service loan request portal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for approvals, returns &amp; overdue tracking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fine calculation (2,000 VND/day)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access: Student, Lecturer, Researcher, Admin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98AD7-4677-0A51-6CAF-872BC641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" name="Table 57">
            <a:extLst>
              <a:ext uri="{FF2B5EF4-FFF2-40B4-BE49-F238E27FC236}">
                <a16:creationId xmlns:a16="http://schemas.microsoft.com/office/drawing/2014/main" id="{8779D982-84B9-E79E-BA5A-676A90441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5230473"/>
              </p:ext>
            </p:extLst>
          </p:nvPr>
        </p:nvGraphicFramePr>
        <p:xfrm>
          <a:off x="0" y="0"/>
          <a:ext cx="9143999" cy="51434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3906">
                  <a:extLst>
                    <a:ext uri="{9D8B030D-6E8A-4147-A177-3AD203B41FA5}">
                      <a16:colId xmlns:a16="http://schemas.microsoft.com/office/drawing/2014/main" val="397046173"/>
                    </a:ext>
                  </a:extLst>
                </a:gridCol>
                <a:gridCol w="2873357">
                  <a:extLst>
                    <a:ext uri="{9D8B030D-6E8A-4147-A177-3AD203B41FA5}">
                      <a16:colId xmlns:a16="http://schemas.microsoft.com/office/drawing/2014/main" val="4093213329"/>
                    </a:ext>
                  </a:extLst>
                </a:gridCol>
                <a:gridCol w="1573072">
                  <a:extLst>
                    <a:ext uri="{9D8B030D-6E8A-4147-A177-3AD203B41FA5}">
                      <a16:colId xmlns:a16="http://schemas.microsoft.com/office/drawing/2014/main" val="3882899228"/>
                    </a:ext>
                  </a:extLst>
                </a:gridCol>
                <a:gridCol w="1682866">
                  <a:extLst>
                    <a:ext uri="{9D8B030D-6E8A-4147-A177-3AD203B41FA5}">
                      <a16:colId xmlns:a16="http://schemas.microsoft.com/office/drawing/2014/main" val="3273397462"/>
                    </a:ext>
                  </a:extLst>
                </a:gridCol>
                <a:gridCol w="2590798">
                  <a:extLst>
                    <a:ext uri="{9D8B030D-6E8A-4147-A177-3AD203B41FA5}">
                      <a16:colId xmlns:a16="http://schemas.microsoft.com/office/drawing/2014/main" val="4208103754"/>
                    </a:ext>
                  </a:extLst>
                </a:gridCol>
              </a:tblGrid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No.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Flowchart (step)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Performed by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Coordinates with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Form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935046398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Present card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HD.01.TV.DV.02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784039242"/>
                  </a:ext>
                </a:extLst>
              </a:tr>
              <a:tr h="6734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Search the catalogue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HD.01.TV.DV.01; BM.03.QT.03.TV.DV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479598005"/>
                  </a:ext>
                </a:extLst>
              </a:tr>
              <a:tr h="90274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Fill in the request slip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BM.01.QT.03.TV.DV (or record the loan directly in Koha)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925467630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Retrieve from the stacks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—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HD.01.TV.DV.01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1209198745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Complete the loan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—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BM.01.QT.03.TV.DV; Koha software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697114940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Return at the staff desk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BM.02.QT.03.TV.DV; Koha software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1142920997"/>
                  </a:ext>
                </a:extLst>
              </a:tr>
              <a:tr h="6734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Process return / renewal / handle violations (if any)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—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BM.02.QT.03.TV.DV; HD.01.TV.DV.02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085662930"/>
                  </a:ext>
                </a:extLst>
              </a:tr>
              <a:tr h="6734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Reshelve / handle documents per violation status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—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HD.01.TV.DV.04; QT.01.TV.DV.04; QT.01.TV.DV.05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21150119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1463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41CDAE-3B89-8746-B109-A34A890B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41AED9E-54E4-FC21-B51A-9B955D5B2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800508"/>
              </p:ext>
            </p:extLst>
          </p:nvPr>
        </p:nvGraphicFramePr>
        <p:xfrm>
          <a:off x="-1" y="0"/>
          <a:ext cx="9227127" cy="51657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02772">
                  <a:extLst>
                    <a:ext uri="{9D8B030D-6E8A-4147-A177-3AD203B41FA5}">
                      <a16:colId xmlns:a16="http://schemas.microsoft.com/office/drawing/2014/main" val="2843021117"/>
                    </a:ext>
                  </a:extLst>
                </a:gridCol>
                <a:gridCol w="2749828">
                  <a:extLst>
                    <a:ext uri="{9D8B030D-6E8A-4147-A177-3AD203B41FA5}">
                      <a16:colId xmlns:a16="http://schemas.microsoft.com/office/drawing/2014/main" val="3280783715"/>
                    </a:ext>
                  </a:extLst>
                </a:gridCol>
                <a:gridCol w="1307175">
                  <a:extLst>
                    <a:ext uri="{9D8B030D-6E8A-4147-A177-3AD203B41FA5}">
                      <a16:colId xmlns:a16="http://schemas.microsoft.com/office/drawing/2014/main" val="2891183480"/>
                    </a:ext>
                  </a:extLst>
                </a:gridCol>
                <a:gridCol w="2460568">
                  <a:extLst>
                    <a:ext uri="{9D8B030D-6E8A-4147-A177-3AD203B41FA5}">
                      <a16:colId xmlns:a16="http://schemas.microsoft.com/office/drawing/2014/main" val="778125781"/>
                    </a:ext>
                  </a:extLst>
                </a:gridCol>
                <a:gridCol w="2306784">
                  <a:extLst>
                    <a:ext uri="{9D8B030D-6E8A-4147-A177-3AD203B41FA5}">
                      <a16:colId xmlns:a16="http://schemas.microsoft.com/office/drawing/2014/main" val="2828864994"/>
                    </a:ext>
                  </a:extLst>
                </a:gridCol>
              </a:tblGrid>
              <a:tr h="16520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No.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Step (flowchart)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Performed by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System / Coordination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Route / Artifact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1571515369"/>
                  </a:ext>
                </a:extLst>
              </a:tr>
              <a:tr h="25051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Log in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Spring Security (BCrypt); role-based routing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GET /login → /client/home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4279776836"/>
                  </a:ext>
                </a:extLst>
              </a:tr>
              <a:tr h="33582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Search &amp; view details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Shows only visible document types (visibleDocTypes)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GET /client/home, /client/books/{id}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2139382636"/>
                  </a:ext>
                </a:extLst>
              </a:tr>
              <a:tr h="42113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Add to cart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6 checks: permission · duplicate · ≤5 · not restricted · visible · in stock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POST /client/cart/add(-ajax)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423142761"/>
                  </a:ext>
                </a:extLst>
              </a:tr>
              <a:tr h="5064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Submit loan request (self-service)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RuleEngine 3-tier validate → create AWAITING_PICKUP loan + 6-char code + hold copies (copies−1)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POST /client/loans/submit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996819236"/>
                  </a:ext>
                </a:extLst>
              </a:tr>
              <a:tr h="33582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Prepare books by code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Librarian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View the awaiting-pickup list by code &amp; 24h deadline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GET /librarian/loans?status=AWAITING_PICKUP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1155531466"/>
                  </a:ext>
                </a:extLst>
              </a:tr>
              <a:tr h="50564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Self-confirm pickup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confirmPickup: correct owner + correct code → BORROWED, due date set by role × doc type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POST /client/loans/{id}/pickup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3997666137"/>
                  </a:ext>
                </a:extLst>
              </a:tr>
              <a:tr h="33582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Renew (if allowed)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canRenew: renewalCount &lt; maxRenewals; +renewalDays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POST /client/loans/renew/{detailId}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537773817"/>
                  </a:ext>
                </a:extLst>
              </a:tr>
              <a:tr h="6770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Return &amp; collect fines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Librarian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returnBook: fine = overdue days × 2,000 VND, restore copies; pay-fine; loan → COMPLETED when all returned &amp; all fines paid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POST /librarian/loans/details/{id}/return, …/pay-fine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246664785"/>
                  </a:ext>
                </a:extLst>
              </a:tr>
              <a:tr h="6770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9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Background jobs (automatic)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System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Every 10 min cancels orders not collected within 24h (restores copies); reminds of due-soon/overdue items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PickupExpiryScheduler; LoanService.sendDueReminders()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2455066733"/>
                  </a:ext>
                </a:extLst>
              </a:tr>
              <a:tr h="93298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10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Order branches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 / Librarian / System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Self-cancel (before pickup) · librarian cancel with reason · scheduler auto-cancel — all restore copies. Internal documents: issue an in-house reading slip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/client/loans/{id}/cancel; /librarian/loans/{id}/cancel; /librarian/inhouse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691717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8620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 &amp; Scope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1371600"/>
            <a:ext cx="384048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digitise the 8-step borrowing process (QT.03.TV.DV)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role-based borrowing rules for 3 reader types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cart-based self-service loan request portal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admin interface for approvals, returns &amp; cataloguing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Auto-calculate overdue fines at 2,000 VND/day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RESTRICTED documents from home borrowing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932688"/>
            <a:ext cx="3931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64608" y="987552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64608" y="1371600"/>
            <a:ext cx="370332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for students, lecturers, researchers, admin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features across borrowing lifecycle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borrowing rule configurations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(dev) &amp; MySQL (prod) support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54880" y="2697480"/>
            <a:ext cx="3931920" cy="1938528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64608" y="2752344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64608" y="3127248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UI-based user registration (seed data only)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overdue email notifications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queue for unavailable books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PDF report exports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 application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Requirements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07492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1371600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13716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371600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by student/staff code; LOCKED accounts denied; role-based redirect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186537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80160" y="186537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&amp; Search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1865376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keyword &amp; doc-type; filter available-only; full metadata display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359152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" y="235915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80160" y="2359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&amp; Loan Request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60320" y="2359152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cart (max 5); 3-layer RuleEngine validation; creates PENDING loan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852928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" y="2852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80160" y="285292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Approval &amp; Due Date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60320" y="2852928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approves/cancels; system sets due_date per role × doc-type rule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3346704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66928" y="334670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280160" y="334670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&amp; Fine Calc.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0" y="3346704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processes return; fine = overdue days × 2,000 VND; condition recorded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3840480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66928" y="38404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280160" y="38404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560320" y="3840480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renews active loan; extends due_date by renewal_days; limited attempts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4334256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66928" y="43342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280160" y="433425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Management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560320" y="4334256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CRUD, user CRUD, toggle ACTIVE/LOCKED, overdue dashboard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0" y="932688"/>
            <a:ext cx="3017520" cy="38862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779008" y="987552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79008" y="137160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779008" y="1609344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access: /admin/** → ADMIN, /client/** → authenticated users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779008" y="2048256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79008" y="2286000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@Transactional on all mutating services — atomic multi-step operations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779008" y="2724912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779008" y="2962656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 responsive layout; inline validation error messages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779008" y="340156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79008" y="3639312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(dev, zero-config) ↔ MySQL (prod) switchable via application.properties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4078224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779008" y="4315968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layering — no business logic in controllers; rules in RuleEngine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(MVC Layers)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80160" y="914400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EBF3FB"/>
          </a:solidFill>
          <a:ln w="19050">
            <a:solidFill>
              <a:srgbClr val="2E5FA3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44752" y="969264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44752" y="1216152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ClientController · AdminController · LibrarianController · AuthController · AccountController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44568" y="1572768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280160" y="1664208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EAF4EA"/>
          </a:solidFill>
          <a:ln w="19050">
            <a:solidFill>
              <a:srgbClr val="1A7A4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44752" y="1719072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Layer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44752" y="1965960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LoanService · BookService · UserService · RuleService · NotificationService · PermissionService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44568" y="2322576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280160" y="2414016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FFF3CD"/>
          </a:solidFill>
          <a:ln w="19050">
            <a:solidFill>
              <a:srgbClr val="C992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444752" y="2468880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44752" y="2715768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RuleEngine — validate() · calculateDueDate() · canRenew() · calculateFine()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44568" y="3072384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280160" y="3163824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FEF9E7"/>
          </a:solidFill>
          <a:ln w="19050">
            <a:solidFill>
              <a:srgbClr val="C992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444752" y="3218688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44752" y="3465576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LoanRepository · BookRepository · UserRepository · LoanDetailRepository · BorrowingRuleRepository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44568" y="3822192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280160" y="3913632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FDF2F8"/>
          </a:solidFill>
          <a:ln w="19050">
            <a:solidFill>
              <a:srgbClr val="8E44AD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444752" y="3968496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Layer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44752" y="4215384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(dev)  ·  MySQL 8.0 (prod)  —  5 core tables, auto-seeded via data.sql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001000" y="969264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Thymeleaf · Bootstrap 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01000" y="1719072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@Service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@Transactional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01000" y="2395728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@Component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Bean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01000" y="3090672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ORM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01000" y="3785616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ddl-auto: create-drop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 — 5 Core Tables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56209"/>
            <a:ext cx="2606040" cy="2039112"/>
          </a:xfrm>
          <a:prstGeom prst="roundRect">
            <a:avLst>
              <a:gd name="adj" fmla="val 4762"/>
            </a:avLst>
          </a:prstGeom>
          <a:solidFill>
            <a:srgbClr val="EBF3FB"/>
          </a:solidFill>
          <a:ln w="19050">
            <a:solidFill>
              <a:srgbClr val="2E5FA3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856209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874497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24025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1459713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student_code  UNIQUE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167916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full_name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189862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password_hash  BCrypt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6526" y="2122653"/>
            <a:ext cx="183170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role(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STUDENT|LECTURER|RESEARCHER|ADMIN)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0352" y="244726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card_status  (ACTIVE|LOCKED)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30352" y="265300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10128" y="856209"/>
            <a:ext cx="2606040" cy="2039112"/>
          </a:xfrm>
          <a:prstGeom prst="roundRect">
            <a:avLst>
              <a:gd name="adj" fmla="val 4762"/>
            </a:avLst>
          </a:prstGeom>
          <a:solidFill>
            <a:srgbClr val="EAF4EA"/>
          </a:solidFill>
          <a:ln w="19050">
            <a:solidFill>
              <a:srgbClr val="1A7A4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310128" y="856209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01568" y="874497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01568" y="124025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01568" y="1459713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 · author · isbn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25375" y="1664367"/>
            <a:ext cx="217554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_type(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TEXTBOOK|SPEC_REF|GENERAL_REF|RESTRICTED)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75152" y="2003781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total_copies · available_copies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75152" y="2236953"/>
            <a:ext cx="2643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classification_code · category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75152" y="247005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publisher · publish_year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75152" y="268951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  TEXT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63056" y="856209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EF9E7"/>
          </a:solidFill>
          <a:ln w="19050">
            <a:solidFill>
              <a:srgbClr val="C992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163056" y="856209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54496" y="874497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124397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26480" y="146343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user_id  FK→users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0" y="1682891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· pickup_code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2088" y="188881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pickup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_deadline · picked_up_at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92088" y="2053223"/>
            <a:ext cx="254116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status(</a:t>
            </a:r>
            <a:r>
              <a:rPr lang="vi-VN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AWAITING/PICKUP/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RETURNED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26480" y="233753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in_house  BOOLEAN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26480" y="2547180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cancel_reason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97280" y="3005052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DF2F8"/>
          </a:solidFill>
          <a:ln w="19050">
            <a:solidFill>
              <a:srgbClr val="8E44AD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097280" y="3005052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188720" y="302334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loan_details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188720" y="3389100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88720" y="3608556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loan_id  FK→loans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88720" y="382801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book_id  FK→books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88720" y="4047468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due_date · return_date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188720" y="4266924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renewal_count  DEFAULT 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88720" y="4486380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fine_amount · fine_paid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188720" y="4705836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condition_status · status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950208" y="3005052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0F0FF"/>
          </a:solidFill>
          <a:ln w="19050">
            <a:solidFill>
              <a:srgbClr val="1B2A4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950208" y="3005052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041648" y="302334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borrowing_rules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3897412" y="343936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897412" y="3658825"/>
            <a:ext cx="28081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user_role  UNIQUE(role, doc_type)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3897412" y="3878281"/>
            <a:ext cx="282723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doc_type  UNIQUE(role, doc_type)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897412" y="409773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max_quantity  INT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897412" y="4317193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borrow_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days  NULLABLE </a:t>
            </a:r>
            <a:r>
              <a:rPr lang="vi-VN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NULL=unlimited)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3897412" y="453664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max_renewals · renewal_days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57200" y="4889543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1 : N loans 1 : N loan_details N : 1 books  |  borrowing_rules keyed on (user_role, doc_type)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Features — Part 1: Client Portal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85216" y="1042416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5216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Search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 (title/author/ISBN), filter by doc-type, availability filter — with overdue warning banner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/client/home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55848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83864" y="1042416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83864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04488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Detail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83864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metadata: ISBN, classification code, publisher, year, description, availability status, add-to-cart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83864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/client/books/{id}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54496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82512" y="1042416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82512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03136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Management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2512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Add/remove/clear books in session cart. Enforces 5-item cap. Shows availability &amp; doc-type warnings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82512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/client/cart/**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85216" y="2706624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85216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Loan Request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85216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3-layer RuleEngine validation → creates PENDING Loan + LoanDetails → decrements available_copies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5216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/client/loans/submit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355848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483864" y="2706624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83864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904488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Loans &amp; History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83864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loans by status. Active items show due-date countdown. Overdue items highlighted with fine estimate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483864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/client/my-loans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54496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382512" y="2706624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382512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03136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 Book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382512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ownership + BORROWING status + renewal quota. Extends due_date by renewal_days (3 days)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2512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/client/loans/renew/{id}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Features — Part 2: Admin / Librarian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85216" y="1042416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5216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cards: pending loans, active borrowings, overdue list with days-overdue and estimated fine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/admin/dashboard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55848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83864" y="1042416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83864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04488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Loans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83864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all PENDING requests with reader name, date, book list. One-click Approve or Cancel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83864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/admin/loans/pending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54496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82512" y="1042416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82512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03136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Loan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2512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status=APPROVED; calculates and sets due_date per (user_role × doc_type) rule for each item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82512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/admin/loans/{id}/approve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85216" y="2706624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85216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Loan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85216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Restores available_copies for all books in loan. Persisted via @Transactional LoanService.cancelLoan()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5216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/admin/loans/{id}/cancel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355848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483864" y="2706624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83864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904488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Return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83864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condition (GOOD/DAMAGED), calculates fine, marks RETURNED, increments copies, auto-closes loan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483864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/admin/loans/details/{id}/return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54496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382512" y="2706624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382512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03136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&amp; User CRUD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382512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book catalogue management. View/toggle user ACTIVE/LOCKED status. DocType selector for all 4 types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2512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 /admin/books/** · /admin/users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23760" y="4617720"/>
            <a:ext cx="1691640" cy="384048"/>
          </a:xfrm>
          <a:prstGeom prst="roundRect">
            <a:avLst>
              <a:gd name="adj" fmla="val 19048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223760" y="4617720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18 Features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Records, sealed classes, pattern matching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42616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52344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52344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3.4.13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52344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 · Spring Security · Spring Data JPA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28032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37760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Engine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Thymeleaf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HTML rendering + Security extras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013448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123176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23176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/ JPA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23176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DDL, H2 seed, MySQL dialect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— Dev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6928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Zero-config; auto-recreated on restart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642616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52344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— Prod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52344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52344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via application.properties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28032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37760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37760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passwords · Form login · RBAC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013448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123176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Framework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23176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5.3.2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123176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grid + Bootstrap Icons 1.11.3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66928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66928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Bean Validation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66928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@NotBlank, @Min, @Email on DTOs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42616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752344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Tool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752344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3.8+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52344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pom.xml — Spring Boot parent POM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28032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937760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Quality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937760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Lombok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937760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@Data, @NoArgsConstructor, @AllArgsConstructor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13448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123176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123176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 IDEA 2023+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123176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or Ultimate; VS Code alternative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Highlights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4069080" cy="4005072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RuleEngine Validation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335024"/>
            <a:ext cx="3840480" cy="3040380"/>
          </a:xfrm>
          <a:prstGeom prst="roundRect">
            <a:avLst>
              <a:gd name="adj" fmla="val 3361"/>
            </a:avLst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" y="1389888"/>
            <a:ext cx="3657600" cy="206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Layer 1 — Account checks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(user.cardStatus == LOCKED)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errors.add("Account locked.");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(hasOverdueItems(user))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errors.add("N overdue — return first.");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Layer 2 — Cart size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(cart.isEmpty()) errors.add("Cart is empty.");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(cart.size() &gt; 5)  errors.add("Max 5 items.");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Layer 3 — Per-type quota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(DocType type : countByType)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(type == RESTRICTED)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errors.add("In-library use only.");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(count &gt; rule.maxQuantity)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errors.add("Quota exceeded.");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30352" y="442569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ValidationResult with a list of human-readable errors. Controllers only check result.isValid() — zero business logic in HTTP layer.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932688"/>
            <a:ext cx="3931920" cy="400507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64608" y="987552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Calculation &amp; Renewal Logic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64608" y="1335024"/>
            <a:ext cx="3703320" cy="1554480"/>
          </a:xfrm>
          <a:prstGeom prst="roundRect">
            <a:avLst>
              <a:gd name="adj" fmla="val 4706"/>
            </a:avLst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56048" y="1389888"/>
            <a:ext cx="352044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Fine: 2,000 VND per overdue day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calculateFine(LoanDetail d)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(d.dueDate == null) return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LocalDate ret = d.returnDate != null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d.returnDate.toLocalDate()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LocalDate.now();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(!ret.isAfter(d.dueDate)) return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long days = DAYS.between(d.dueDate, ret);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days * 2000L; // VND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64608" y="2962656"/>
            <a:ext cx="3703320" cy="1248156"/>
          </a:xfrm>
          <a:prstGeom prst="roundRect">
            <a:avLst>
              <a:gd name="adj" fmla="val 7018"/>
            </a:avLst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56048" y="3017520"/>
            <a:ext cx="352044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Renewal guard (3 bugs prevented)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 canRenew(LoanDetail d, Rule r)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(r.maxRenewals == 0) return false;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(d.status != BORROWING) return false; // Bug #3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Bug #2: ownership check in controller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d.renewalCount &lt; r.maxRenewals;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64608" y="4265676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are stateless — easy to unit test without database access.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Validation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8686800" cy="32918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93776" y="950976"/>
            <a:ext cx="429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96696" y="950976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94176" y="950976"/>
            <a:ext cx="585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52544" y="9509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" y="129844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96696" y="129844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borrows 1 textbook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94176" y="129844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52544" y="12984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created PENDING; available_copies -1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62763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3776" y="166420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96696" y="166420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account cannot borrow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94176" y="166420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52544" y="16642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'Account locked. Contact librarian.'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199339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3776" y="202996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96696" y="202996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limit enforced (6 books)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94176" y="202996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352544" y="20299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6th book rejected; max 5 message shown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235915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" y="239572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6696" y="239572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book blocked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94176" y="239572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352544" y="23957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error: 'In-library use only'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272491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3776" y="276148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96696" y="276148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approves — due date set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694176" y="276148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352544" y="27614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due_date = today + 150 days (STUDENT/TEXTBOOK)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09067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3776" y="312724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96696" y="312724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time — no fine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94176" y="312724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352544" y="3127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fine_amount = 0; copies restored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345643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3776" y="349300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T-07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96696" y="349300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overdue — fine calculated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94176" y="349300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52544" y="3493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= overdue_days × 2,000 VND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382219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93776" y="385876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T-08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96696" y="385876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 SPECIALIZED_REF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94176" y="385876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352544" y="38587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due_date +3 days; renewal_count = 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" y="418795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93776" y="422452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T-09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96696" y="422452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renew after max renewals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94176" y="422452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352544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after 2nd renewal attempt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55371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93776" y="459028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T-10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96696" y="459028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loan restores stock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3694176" y="459028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352544" y="45902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available_copies +1 for each book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446520" y="4764024"/>
            <a:ext cx="2697480" cy="292608"/>
          </a:xfrm>
          <a:prstGeom prst="roundRect">
            <a:avLst>
              <a:gd name="adj" fmla="val 18750"/>
            </a:avLst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446520" y="4764024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 scenarios PASSED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Solutions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66928" y="1042416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04241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444752" y="996696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#1  —  cancelLoan() — LazyInitializationException + data not saved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12984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AdminController called loan.getLoanDetails() on a detached entity outside @Transactional, then called setStatus() without save(). Loan was never actually cancelled in the database.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17720" y="12984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Moved cancel logic to LoanService.cancelLoan() with @Transactional. Uses loanDetailRepository.findByLoan() to avoid lazy load issue. Persists loan via loanRepository.save().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1956816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66928" y="2066544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0665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444752" y="2020824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#2  —  renewBook() — any user could renew any loan (IDOR)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232257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The /client/loans/renew/{id} endpoint accepted any numeric LoanDetail ID without verifying the authenticated user was the owner — a security vulnerability (IDOR).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17720" y="232257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Added ownership guard: detail.getLoan().getUser().getId().equals(user.getId()). Request rejected with HTTP 403 if mismatch.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980944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66928" y="3090672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309067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444752" y="304495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#3  —  renewBook() — allowed renewal of already-returned items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334670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renewBook() did not check LoanDetail.status before extending due_date. A reader could renew a book they had already returned, corrupting the return record.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17720" y="334670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Added status guard: if (detail.getStatus() != BORROWING) return false; before any renewal logic executes.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005072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66928" y="4114800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" y="41148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444752" y="406908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—  Rule configuration vs. hard-coded business logic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437083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Borrowing rules (quota, duration, renewals) differ for 3 × 4 = 12 combinations. Embedding these in code would make changes require redeployment.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617720" y="437083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Created borrowing_rules database table. RuleEngine reads rules at runtime — admin can reconfigure limits without touching code.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Achievements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47088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47088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847088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36976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36976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236976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(QT.03)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26864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26864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26864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Scenarios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16752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16752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016752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Fixed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06640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406640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406640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286000"/>
            <a:ext cx="406908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66928" y="23408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Deliverables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" y="2688336"/>
            <a:ext cx="3840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MVC application — clean 5-layer architecture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RuleEngine — stateless, single-responsibility component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borrowing lifecycle: browse → cart → submit → approve → return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dev DB auto-seeded with 5 users, 10 books, 12 rules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MySQL-compatible schema — production-ready with config change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bugs fixed: critical data loss, security IDOR, logic error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754880" y="2286000"/>
            <a:ext cx="393192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64608" y="2340864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Achievement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64608" y="2688336"/>
            <a:ext cx="370332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compliance with QT.03.TV.DV regulation (12/12 rules verified)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steps of the official borrowing process implemented or noted N/A (physical steps)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reader types × 4 document types — all combinations handled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fine rate embedded: 2,000 VND/day overdue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suspended/locked via card_status enforcement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TS. Nguyễn Thanh Bình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1097280" cy="4572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3977640" cy="2148840"/>
          </a:xfrm>
          <a:prstGeom prst="roundRect">
            <a:avLst>
              <a:gd name="adj" fmla="val 4255"/>
            </a:avLst>
          </a:prstGeom>
          <a:solidFill>
            <a:srgbClr val="1E3258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9875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Achieved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325880"/>
            <a:ext cx="374904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Java web app from scratch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regulation → working software (QT.03.TV.DV)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ecosystem: Security, JPA, MVC in one project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and fixed 3 real bugs systematically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division by vertical slice — minimised blocking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932688"/>
            <a:ext cx="3977640" cy="2148840"/>
          </a:xfrm>
          <a:prstGeom prst="roundRect">
            <a:avLst>
              <a:gd name="adj" fmla="val 4255"/>
            </a:avLst>
          </a:prstGeom>
          <a:solidFill>
            <a:srgbClr val="1E3258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18888" y="9875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18888" y="1325880"/>
            <a:ext cx="374904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UI for user registration (remove data.sql dependency)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Flyway — persistent production database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email notifications (@Scheduled task)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OPAC search (author, ISBN, year fields)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queue + renewal conflict detection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PDF export for semester borrowing reports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162240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323697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11680" y="3236976"/>
            <a:ext cx="6492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UI-based account creation  ·  No automated overdue emails  ·  H2 is non-persistent (data resets on restart)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3493008"/>
            <a:ext cx="7955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reservation queue  ·  No mobile-optimised views  ·  Pickup deadline scheduler not yet wired to UI notification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0" y="4005072"/>
            <a:ext cx="3657600" cy="877824"/>
          </a:xfrm>
          <a:prstGeom prst="roundRect">
            <a:avLst>
              <a:gd name="adj" fmla="val 12500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0" y="4005072"/>
            <a:ext cx="36576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 Questions &amp; Demo</a:t>
            </a:r>
            <a:endParaRPr lang="en-US" sz="1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9Slide.vn</Template>
  <TotalTime>95</TotalTime>
  <Words>3958</Words>
  <Application>Microsoft Office PowerPoint</Application>
  <PresentationFormat>On-screen Show (16:9)</PresentationFormat>
  <Paragraphs>556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9Slide.vn</Manager>
  <Company>9Slide.vn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9Slide.vn</dc:title>
  <dc:subject>9Slide.vn</dc:subject>
  <dc:creator>Van</dc:creator>
  <dc:description>9Slide.vn</dc:description>
  <cp:lastModifiedBy>Le Ha Hai Van 20233886</cp:lastModifiedBy>
  <cp:revision>38</cp:revision>
  <dcterms:created xsi:type="dcterms:W3CDTF">2026-06-17T13:35:38Z</dcterms:created>
  <dcterms:modified xsi:type="dcterms:W3CDTF">2026-06-17T16:07:52Z</dcterms:modified>
  <cp:category>9Slide.vn</cp:category>
</cp:coreProperties>
</file>