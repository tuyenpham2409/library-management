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71" r:id="rId5"/>
    <p:sldId id="272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66" d="100"/>
          <a:sy n="66" d="100"/>
        </p:scale>
        <p:origin x="1759" y="48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0348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Welcome! Introduce the project: Library Management System built to digitize Phenikaa University Library's borrowing workflow. Mention the team, supervisor TS. Nguyễn Thanh Bình, and the academic year. This is a full-stack web application built with Java 21 and Spring Boot.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agenda briefly. Let the audience know we will cover the system design, all features, tech stack, and testing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real pain point: Phenikaa University Library manages borrowing for thousands of users with a paper-based process. Our system digitizes the entire 8-step workflow defined in the official QT.03.TV.DV regulation, from self-service requests to overdue fine collection.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2BB5B-9BFB-BADF-8481-682F9749AC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9B8DFF-FBAE-1F15-B533-5954320FC3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6CB309-DA01-62D4-18DF-8D6FAC851F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agenda briefly. Let the audience know we will cover the system design, all features, tech stack, and testing results.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383749-B8FE-2F60-24D5-16438AAB0C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6836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ABB82-B392-3779-4972-DAA07E3DF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5DF8C1-9639-1DEA-0F0C-11CE60A708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E0C98E-3944-BD1D-47C0-1217283531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agenda briefly. Let the audience know we will cover the system design, all features, tech stack, and testing results.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0F13E9-4AA7-4184-E525-415D75C5AC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10017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core goal: faithfully implement the official university regulation as a working web system. Point out what is deliberately out of scope — these are documented as future work, not forgotten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7 functional requirements — emphasize FR-3 (cart + validation) and FR-5 (fine calculation) as the most complex. For non-functional: stress that @Transactional prevents partial state, and RuleEngine keeps business logic centralized.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Describe the 5-layer MVC architecture. Emphasize: controllers contain NO business logic — all rules are in RuleEngine and Services. The Rule Engine is a Spring @Component injected wherever rule validation is needed. Ask: 'Why separate RuleEngine from Service?' — Answer: single responsibility, testable in isolation.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5 tables. Key relationship: one User → many Loans → many LoanDetails → one Book each. BorrowingRule is a lookup keyed on (role × doc_type) — 12 rules covering 3 roles × 4 doc types. Highlight that borrow_days=NULL means unlimited (used for Lecturer textbooks).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client-facing features. Demo flow: login as student01 → search → add to cart → submit. Highlight Feature 04: the 3-layer validation is the heart of the system — it checks account status, overdue items, cart total, and per-type quotas before allowing submission.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admin-facing features completing the total of 18. Feature 09 (Approve) and 11 (Return) are the most complex — they involve multi-table updates in a single transaction. Mention that Bug #1 was found here: cancelLoan() wasn't saving due to a detached entity (LazyInitializationException). Fixed by moving logic to LoanService @Transactional.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stack is deliberately standard and maintainable: Java ecosystem, familiar Spring Boot conventions. H2 removes setup friction during development. The Bootstrap 5 UI requires no custom JavaScript for most interactions. Emphasize why Java 21 — it's LTS and enables modern language features like records used in DTOs.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key algorithms: (1) The 3-layer validation in RuleEngine — runs before every loan submission, fail-fast on account issues. (2) Fine calculation uses Java LocalDate arithmetic — null dueDate means unlimited (Lecturer). The renewal guard contains fixes for Bug #2 (ownership bypass) and Bug #3 (renewing returned books).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10 manual test scenarios passed. Tests cover happy path, edge cases (locked account, quota exceeded, RESTRICTED doc), and admin workflow. T-07 requires manually setting a past due_date in H2 console to simulate overdue — demonstrate this in the live demo if time allows.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real bugs found during development — not invented. Bug #1 (data loss) and Bug #2 (security IDOR) are the most serious. Emphasize: we identified and fixed these by looking at what Spring's @Transactional actually guarantees and thinking carefully about ownership checks. The design challenge shows we chose a database-driven rule approach instead of hard-coding.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Summarize the key numbers: 18 features, 5 tables, 12 rules, 10 tests all passing, 3 bugs fixed. Emphasize compliance: we didn't design the rules — we read the official QT.03.TV.DV document and implemented it exactly. This is verifiable: each rule in data.sql matches the PDF table line by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what the team learned — not just the tech, but the process: reading a regulation document and translating it to software, debugging transactional issues, fixing a security vulnerability. Roadmap shows we understand the product isn't done — these are concrete, prioritized next steps. Invite questions and offer a live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46357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9Slide.vn - 2019">
            <a:extLst>
              <a:ext uri="{FF2B5EF4-FFF2-40B4-BE49-F238E27FC236}">
                <a16:creationId xmlns:a16="http://schemas.microsoft.com/office/drawing/2014/main" id="{CFAB907E-0406-980A-6D19-64D0A0DC4F4B}"/>
              </a:ext>
            </a:extLst>
          </p:cNvPr>
          <p:cNvSpPr txBox="1"/>
          <p:nvPr userDrawn="1"/>
        </p:nvSpPr>
        <p:spPr>
          <a:xfrm>
            <a:off x="0" y="-712232"/>
            <a:ext cx="91440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800">
                <a:solidFill>
                  <a:srgbClr val="CFCFCF"/>
                </a:solidFill>
              </a:rPr>
              <a:t>www.9slide.vn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640080"/>
            <a:ext cx="8321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Library Management System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11480" y="1417320"/>
            <a:ext cx="8321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i="1" dirty="0">
                <a:solidFill>
                  <a:srgbClr val="A8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Digitizing the Document Borrowing Process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i="1" dirty="0">
                <a:solidFill>
                  <a:srgbClr val="A8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Phenikaa University Library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2743200" y="2176272"/>
            <a:ext cx="3657600" cy="45720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2331720"/>
            <a:ext cx="8046720" cy="1600200"/>
          </a:xfrm>
          <a:prstGeom prst="roundRect">
            <a:avLst>
              <a:gd name="adj" fmla="val 6857"/>
            </a:avLst>
          </a:prstGeom>
          <a:solidFill>
            <a:srgbClr val="253555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7498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770632"/>
            <a:ext cx="7498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Nguyễn Thị Thu Hà  ·  Bùi Thanh Thảo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3118104"/>
            <a:ext cx="7498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Phạm Minh Tuyên  ·  Lê Hà Hải Vân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4069080"/>
            <a:ext cx="2560320" cy="749808"/>
          </a:xfrm>
          <a:prstGeom prst="roundRect">
            <a:avLst>
              <a:gd name="adj" fmla="val 14634"/>
            </a:avLst>
          </a:prstGeom>
          <a:solidFill>
            <a:srgbClr val="253555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409651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4315968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TS. Nguyễn Thanh Bình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410712" y="4069080"/>
            <a:ext cx="2560320" cy="749808"/>
          </a:xfrm>
          <a:prstGeom prst="roundRect">
            <a:avLst>
              <a:gd name="adj" fmla="val 14634"/>
            </a:avLst>
          </a:prstGeom>
          <a:solidFill>
            <a:srgbClr val="253555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502152" y="409651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502152" y="4315968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vi-VN" sz="12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r>
              <a:rPr lang="en-US" sz="12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</a:t>
            </a:r>
            <a:r>
              <a:rPr lang="vi-VN" sz="12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72784" y="4069080"/>
            <a:ext cx="2560320" cy="749808"/>
          </a:xfrm>
          <a:prstGeom prst="roundRect">
            <a:avLst>
              <a:gd name="adj" fmla="val 14634"/>
            </a:avLst>
          </a:prstGeom>
          <a:solidFill>
            <a:srgbClr val="253555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364224" y="409651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64224" y="4315968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vi-VN" sz="12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</a:t>
            </a:r>
            <a:r>
              <a:rPr lang="en-US" sz="12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vi-VN" sz="12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146304"/>
            <a:ext cx="329184" cy="329184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46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Table of Contents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768096"/>
            <a:ext cx="1097280" cy="50292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406908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66928" y="1033272"/>
            <a:ext cx="292608" cy="27432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66928" y="103327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32688" y="1014984"/>
            <a:ext cx="3520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Motivation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499616"/>
            <a:ext cx="406908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66928" y="1572768"/>
            <a:ext cx="292608" cy="27432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66928" y="157276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32688" y="1554480"/>
            <a:ext cx="3520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Objectives &amp; Scope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2039112"/>
            <a:ext cx="406908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66928" y="2112264"/>
            <a:ext cx="292608" cy="27432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66928" y="211226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32688" y="2093976"/>
            <a:ext cx="3520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Requirements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578608"/>
            <a:ext cx="406908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66928" y="2651760"/>
            <a:ext cx="292608" cy="27432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66928" y="265176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6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32688" y="2633472"/>
            <a:ext cx="3520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3118104"/>
            <a:ext cx="406908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66928" y="3191256"/>
            <a:ext cx="292608" cy="27432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66928" y="3191256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32688" y="3172968"/>
            <a:ext cx="3520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57200" y="3657600"/>
            <a:ext cx="406908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566928" y="3730752"/>
            <a:ext cx="292608" cy="27432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66928" y="373075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8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32688" y="3712464"/>
            <a:ext cx="3520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Features — Part 1 (Client)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57200" y="4197096"/>
            <a:ext cx="406908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566928" y="4270248"/>
            <a:ext cx="292608" cy="27432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66928" y="427024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9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32688" y="4251960"/>
            <a:ext cx="3520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Features — Part 2 (Admin)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754880" y="960120"/>
            <a:ext cx="406908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864608" y="1033272"/>
            <a:ext cx="292608" cy="27432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864608" y="103327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10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230368" y="1014984"/>
            <a:ext cx="3520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754880" y="1499616"/>
            <a:ext cx="406908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4864608" y="1572768"/>
            <a:ext cx="292608" cy="27432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4864608" y="157276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11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230368" y="1554480"/>
            <a:ext cx="3520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Highlights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4754880" y="2039112"/>
            <a:ext cx="406908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4864608" y="2112264"/>
            <a:ext cx="292608" cy="27432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4864608" y="211226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12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230368" y="2093976"/>
            <a:ext cx="3520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Validation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4754880" y="2578608"/>
            <a:ext cx="406908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4864608" y="2651760"/>
            <a:ext cx="292608" cy="27432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4864608" y="265176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13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230368" y="2633472"/>
            <a:ext cx="3520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Solutions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4754880" y="3118104"/>
            <a:ext cx="406908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4864608" y="3191256"/>
            <a:ext cx="292608" cy="27432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4864608" y="3191256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14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230368" y="3172968"/>
            <a:ext cx="3520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Achievements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4754880" y="3657600"/>
            <a:ext cx="406908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4864608" y="3730752"/>
            <a:ext cx="292608" cy="27432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4864608" y="373075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15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230368" y="3712464"/>
            <a:ext cx="3520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Future Work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146304"/>
            <a:ext cx="329184" cy="329184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46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 &amp; Motivation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768096"/>
            <a:ext cx="1097280" cy="50292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932688"/>
            <a:ext cx="406908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069080" cy="420624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66928" y="950976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66928" y="1417320"/>
            <a:ext cx="384048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Paper-based library cards are slow and error-prone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loan slips are hard to audit and trace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Overdue fines calculated by hand — inconsistent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digital history for readers or administrators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of students served each semester at Phenikaa University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54880" y="932688"/>
            <a:ext cx="393192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754880" y="932688"/>
            <a:ext cx="3931920" cy="420624"/>
          </a:xfrm>
          <a:prstGeom prst="rect">
            <a:avLst/>
          </a:prstGeom>
          <a:solidFill>
            <a:srgbClr val="1A7A4A"/>
          </a:solidFill>
          <a:ln w="1270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64608" y="950976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864608" y="1417320"/>
            <a:ext cx="37033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web application (Spring Boot + Thymeleaf)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Implements official QT.03.TV.DV regulation exactly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Cart-based self-service loan request portal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Pickup-code handover: librarian enters code to confirm — no manual paper slip or approval step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fine calculation (2,000 VND/day)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access: Student, Lecturer, Researcher</a:t>
            </a:r>
            <a:r>
              <a:rPr lang="en-US" sz="130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vi-VN" sz="130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Admin, Librarian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598AD7-4677-0A51-6CAF-872BC6416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8" name="Table 57">
            <a:extLst>
              <a:ext uri="{FF2B5EF4-FFF2-40B4-BE49-F238E27FC236}">
                <a16:creationId xmlns:a16="http://schemas.microsoft.com/office/drawing/2014/main" id="{8779D982-84B9-E79E-BA5A-676A90441A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842629"/>
              </p:ext>
            </p:extLst>
          </p:nvPr>
        </p:nvGraphicFramePr>
        <p:xfrm>
          <a:off x="0" y="0"/>
          <a:ext cx="9143999" cy="514349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423906">
                  <a:extLst>
                    <a:ext uri="{9D8B030D-6E8A-4147-A177-3AD203B41FA5}">
                      <a16:colId xmlns:a16="http://schemas.microsoft.com/office/drawing/2014/main" val="397046173"/>
                    </a:ext>
                  </a:extLst>
                </a:gridCol>
                <a:gridCol w="2443985">
                  <a:extLst>
                    <a:ext uri="{9D8B030D-6E8A-4147-A177-3AD203B41FA5}">
                      <a16:colId xmlns:a16="http://schemas.microsoft.com/office/drawing/2014/main" val="4093213329"/>
                    </a:ext>
                  </a:extLst>
                </a:gridCol>
                <a:gridCol w="1928553">
                  <a:extLst>
                    <a:ext uri="{9D8B030D-6E8A-4147-A177-3AD203B41FA5}">
                      <a16:colId xmlns:a16="http://schemas.microsoft.com/office/drawing/2014/main" val="3882899228"/>
                    </a:ext>
                  </a:extLst>
                </a:gridCol>
                <a:gridCol w="1756757">
                  <a:extLst>
                    <a:ext uri="{9D8B030D-6E8A-4147-A177-3AD203B41FA5}">
                      <a16:colId xmlns:a16="http://schemas.microsoft.com/office/drawing/2014/main" val="3273397462"/>
                    </a:ext>
                  </a:extLst>
                </a:gridCol>
                <a:gridCol w="2590798">
                  <a:extLst>
                    <a:ext uri="{9D8B030D-6E8A-4147-A177-3AD203B41FA5}">
                      <a16:colId xmlns:a16="http://schemas.microsoft.com/office/drawing/2014/main" val="4208103754"/>
                    </a:ext>
                  </a:extLst>
                </a:gridCol>
              </a:tblGrid>
              <a:tr h="44409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No.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Flowchart (step)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Performed by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Coordinates with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Form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extLst>
                  <a:ext uri="{0D108BD9-81ED-4DB2-BD59-A6C34878D82A}">
                    <a16:rowId xmlns:a16="http://schemas.microsoft.com/office/drawing/2014/main" val="3935046398"/>
                  </a:ext>
                </a:extLst>
              </a:tr>
              <a:tr h="44409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1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Present card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Reader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Library staff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HD.01.TV.DV.02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extLst>
                  <a:ext uri="{0D108BD9-81ED-4DB2-BD59-A6C34878D82A}">
                    <a16:rowId xmlns:a16="http://schemas.microsoft.com/office/drawing/2014/main" val="3784039242"/>
                  </a:ext>
                </a:extLst>
              </a:tr>
              <a:tr h="67342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2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Search the catalogue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Reader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Library staff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HD.01.TV.DV.01; BM.03.QT.03.TV.DV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extLst>
                  <a:ext uri="{0D108BD9-81ED-4DB2-BD59-A6C34878D82A}">
                    <a16:rowId xmlns:a16="http://schemas.microsoft.com/office/drawing/2014/main" val="3479598005"/>
                  </a:ext>
                </a:extLst>
              </a:tr>
              <a:tr h="90274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3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Fill in the request slip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Reader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Library staff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BM.01.QT.03.TV.DV (or record the loan directly in Koha)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extLst>
                  <a:ext uri="{0D108BD9-81ED-4DB2-BD59-A6C34878D82A}">
                    <a16:rowId xmlns:a16="http://schemas.microsoft.com/office/drawing/2014/main" val="925467630"/>
                  </a:ext>
                </a:extLst>
              </a:tr>
              <a:tr h="44409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4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Retrieve from the stacks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Library staff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—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HD.01.TV.DV.01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extLst>
                  <a:ext uri="{0D108BD9-81ED-4DB2-BD59-A6C34878D82A}">
                    <a16:rowId xmlns:a16="http://schemas.microsoft.com/office/drawing/2014/main" val="1209198745"/>
                  </a:ext>
                </a:extLst>
              </a:tr>
              <a:tr h="44409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5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Complete the loan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Library staff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—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BM.01.QT.03.TV.DV; Koha software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extLst>
                  <a:ext uri="{0D108BD9-81ED-4DB2-BD59-A6C34878D82A}">
                    <a16:rowId xmlns:a16="http://schemas.microsoft.com/office/drawing/2014/main" val="3697114940"/>
                  </a:ext>
                </a:extLst>
              </a:tr>
              <a:tr h="44409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6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Return at the staff desk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Reader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Library staff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BM.02.QT.03.TV.DV; Koha software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extLst>
                  <a:ext uri="{0D108BD9-81ED-4DB2-BD59-A6C34878D82A}">
                    <a16:rowId xmlns:a16="http://schemas.microsoft.com/office/drawing/2014/main" val="1142920997"/>
                  </a:ext>
                </a:extLst>
              </a:tr>
              <a:tr h="67342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7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Process return / renewal / handle violations (if any)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Library staff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—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BM.02.QT.03.TV.DV; HD.01.TV.DV.02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extLst>
                  <a:ext uri="{0D108BD9-81ED-4DB2-BD59-A6C34878D82A}">
                    <a16:rowId xmlns:a16="http://schemas.microsoft.com/office/drawing/2014/main" val="3085662930"/>
                  </a:ext>
                </a:extLst>
              </a:tr>
              <a:tr h="67342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8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Reshelve / handle documents per violation status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Library staff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—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HD.01.TV.DV.04; QT.01.TV.DV.04; QT.01.TV.DV.05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extLst>
                  <a:ext uri="{0D108BD9-81ED-4DB2-BD59-A6C34878D82A}">
                    <a16:rowId xmlns:a16="http://schemas.microsoft.com/office/drawing/2014/main" val="21150119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314631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41CDAE-3B89-8746-B109-A34A890B4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49CA1DE-0E07-DBF6-A5CB-47165798BF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814606"/>
              </p:ext>
            </p:extLst>
          </p:nvPr>
        </p:nvGraphicFramePr>
        <p:xfrm>
          <a:off x="0" y="0"/>
          <a:ext cx="9143999" cy="532054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448887">
                  <a:extLst>
                    <a:ext uri="{9D8B030D-6E8A-4147-A177-3AD203B41FA5}">
                      <a16:colId xmlns:a16="http://schemas.microsoft.com/office/drawing/2014/main" val="229686758"/>
                    </a:ext>
                  </a:extLst>
                </a:gridCol>
                <a:gridCol w="2244437">
                  <a:extLst>
                    <a:ext uri="{9D8B030D-6E8A-4147-A177-3AD203B41FA5}">
                      <a16:colId xmlns:a16="http://schemas.microsoft.com/office/drawing/2014/main" val="3385941286"/>
                    </a:ext>
                  </a:extLst>
                </a:gridCol>
                <a:gridCol w="1604356">
                  <a:extLst>
                    <a:ext uri="{9D8B030D-6E8A-4147-A177-3AD203B41FA5}">
                      <a16:colId xmlns:a16="http://schemas.microsoft.com/office/drawing/2014/main" val="1636488809"/>
                    </a:ext>
                  </a:extLst>
                </a:gridCol>
                <a:gridCol w="2560318">
                  <a:extLst>
                    <a:ext uri="{9D8B030D-6E8A-4147-A177-3AD203B41FA5}">
                      <a16:colId xmlns:a16="http://schemas.microsoft.com/office/drawing/2014/main" val="2289595826"/>
                    </a:ext>
                  </a:extLst>
                </a:gridCol>
                <a:gridCol w="2286001">
                  <a:extLst>
                    <a:ext uri="{9D8B030D-6E8A-4147-A177-3AD203B41FA5}">
                      <a16:colId xmlns:a16="http://schemas.microsoft.com/office/drawing/2014/main" val="3226971746"/>
                    </a:ext>
                  </a:extLst>
                </a:gridCol>
              </a:tblGrid>
              <a:tr h="21384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No.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9225" marR="192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Step (flowchart)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9225" marR="192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Performed by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9225" marR="192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System / Coordination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9225" marR="192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Route / Artifact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9225" marR="19225" marT="0" marB="0"/>
                </a:tc>
                <a:extLst>
                  <a:ext uri="{0D108BD9-81ED-4DB2-BD59-A6C34878D82A}">
                    <a16:rowId xmlns:a16="http://schemas.microsoft.com/office/drawing/2014/main" val="3937701900"/>
                  </a:ext>
                </a:extLst>
              </a:tr>
              <a:tr h="41512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1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9225" marR="192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Log in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9225" marR="192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Reader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9225" marR="192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Spring Security (BCrypt); role-based routing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9225" marR="192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GET /login → /client/home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9225" marR="19225" marT="0" marB="0"/>
                </a:tc>
                <a:extLst>
                  <a:ext uri="{0D108BD9-81ED-4DB2-BD59-A6C34878D82A}">
                    <a16:rowId xmlns:a16="http://schemas.microsoft.com/office/drawing/2014/main" val="2621299564"/>
                  </a:ext>
                </a:extLst>
              </a:tr>
              <a:tr h="43416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2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9225" marR="192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Search &amp; view details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9225" marR="192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Reader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9225" marR="192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Shows only visible document types (visibleDocTypes)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9225" marR="192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GET /client/home, /client/books/{id}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9225" marR="19225" marT="0" marB="0"/>
                </a:tc>
                <a:extLst>
                  <a:ext uri="{0D108BD9-81ED-4DB2-BD59-A6C34878D82A}">
                    <a16:rowId xmlns:a16="http://schemas.microsoft.com/office/drawing/2014/main" val="4161744844"/>
                  </a:ext>
                </a:extLst>
              </a:tr>
              <a:tr h="54432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3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9225" marR="192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Add to cart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9225" marR="192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Reader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9225" marR="192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6 checks: permission · duplicate · ≤5 · not restricted · visible · in stock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9225" marR="192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POST /client/cart/add(-ajax)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9225" marR="19225" marT="0" marB="0"/>
                </a:tc>
                <a:extLst>
                  <a:ext uri="{0D108BD9-81ED-4DB2-BD59-A6C34878D82A}">
                    <a16:rowId xmlns:a16="http://schemas.microsoft.com/office/drawing/2014/main" val="1765032139"/>
                  </a:ext>
                </a:extLst>
              </a:tr>
              <a:tr h="65448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4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9225" marR="192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Submit loan request (self-service)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9225" marR="192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Reader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9225" marR="192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RuleEngine 3-tier validate → create AWAITING_PICKUP loan + 6-char code + hold copies (copies−1)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9225" marR="192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POST /client/loans/submit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9225" marR="19225" marT="0" marB="0"/>
                </a:tc>
                <a:extLst>
                  <a:ext uri="{0D108BD9-81ED-4DB2-BD59-A6C34878D82A}">
                    <a16:rowId xmlns:a16="http://schemas.microsoft.com/office/drawing/2014/main" val="2687477975"/>
                  </a:ext>
                </a:extLst>
              </a:tr>
              <a:tr h="7646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5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9225" marR="192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Collect books (self-service)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9225" marR="192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Reader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9225" marR="192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Reader visits the library within 24 h, retrieves reserved books from open shelves; no system step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9225" marR="192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—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9225" marR="19225" marT="0" marB="0"/>
                </a:tc>
                <a:extLst>
                  <a:ext uri="{0D108BD9-81ED-4DB2-BD59-A6C34878D82A}">
                    <a16:rowId xmlns:a16="http://schemas.microsoft.com/office/drawing/2014/main" val="2875446950"/>
                  </a:ext>
                </a:extLst>
              </a:tr>
              <a:tr h="98497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6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9225" marR="192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Librarian confirms pickup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9225" marR="192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Reader + Librarian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9225" marR="192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confirmPickupByLibrarian: finds AWAITING_PICKUP loan by pickup code → BORROWED + due_date per role × doc_type; reader notified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9225" marR="192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POST /librarian/loans/confirm-pickup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9225" marR="19225" marT="0" marB="0"/>
                </a:tc>
                <a:extLst>
                  <a:ext uri="{0D108BD9-81ED-4DB2-BD59-A6C34878D82A}">
                    <a16:rowId xmlns:a16="http://schemas.microsoft.com/office/drawing/2014/main" val="1879986186"/>
                  </a:ext>
                </a:extLst>
              </a:tr>
              <a:tr h="43416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7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9225" marR="192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Renew (if allowed)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9225" marR="192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Reader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9225" marR="192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canRenew: renewalCount &lt; maxRenewals; +renewalDays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9225" marR="192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POST /client/loans/renew/{detailId}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9225" marR="19225" marT="0" marB="0"/>
                </a:tc>
                <a:extLst>
                  <a:ext uri="{0D108BD9-81ED-4DB2-BD59-A6C34878D82A}">
                    <a16:rowId xmlns:a16="http://schemas.microsoft.com/office/drawing/2014/main" val="1762873702"/>
                  </a:ext>
                </a:extLst>
              </a:tr>
              <a:tr h="87481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8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9225" marR="192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Return &amp; collect fines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9225" marR="192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Librarian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9225" marR="192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returnBook: fine = overdue days × 2,000 VND, restore copies; pay-fine; loan → COMPLETED when all returned &amp; all fines paid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9225" marR="1922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200">
                          <a:effectLst/>
                        </a:rPr>
                        <a:t>POST /librarian/loans/details/{id}/return, …/pay-fine</a:t>
                      </a:r>
                      <a:endParaRPr lang="en-US" sz="12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9225" marR="19225" marT="0" marB="0"/>
                </a:tc>
                <a:extLst>
                  <a:ext uri="{0D108BD9-81ED-4DB2-BD59-A6C34878D82A}">
                    <a16:rowId xmlns:a16="http://schemas.microsoft.com/office/drawing/2014/main" val="4752248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98620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146304"/>
            <a:ext cx="329184" cy="329184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46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Objectives &amp; Scope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768096"/>
            <a:ext cx="1097280" cy="50292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932688"/>
            <a:ext cx="4069080" cy="399100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66928" y="987552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66928" y="1371600"/>
            <a:ext cx="3840480" cy="3090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digitise the 8-step borrowing process (QT.03.TV.DV)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 role-based borrowing rules for 3 reader types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cart-based self-service loan request portal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pickup code per request; auto-cancel un-collected holds after 24 h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Auto-calculate overdue fines at 2,000 VND/day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 RESTRICTED documents from home borrowing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754880" y="932688"/>
            <a:ext cx="3931920" cy="1810512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64608" y="987552"/>
            <a:ext cx="3703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Scope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864608" y="1371600"/>
            <a:ext cx="3703320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 for students, lecturers, researchers, admin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features across borrowing lifecycle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borrowing rule configurations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in-memory (dev) &amp; MySQL (prod); Excel bulk import for books &amp; users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754880" y="2835578"/>
            <a:ext cx="3931920" cy="2088113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864608" y="2881299"/>
            <a:ext cx="3703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864608" y="3256203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code for pickup confirmation (pickup code is alphanumeric today)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overdue email notifications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 queue for unavailable books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/ PDF statistical report exports (data import IS in scope)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native application</a:t>
            </a:r>
            <a:endParaRPr lang="en-US" sz="12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146304"/>
            <a:ext cx="329184" cy="329184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46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Requirements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768096"/>
            <a:ext cx="1097280" cy="50292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932688"/>
            <a:ext cx="5074920" cy="3886200"/>
          </a:xfrm>
          <a:prstGeom prst="roundRect">
            <a:avLst>
              <a:gd name="adj" fmla="val 2824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66928" y="987552"/>
            <a:ext cx="4846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Requirements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1371600"/>
            <a:ext cx="658368" cy="274320"/>
          </a:xfrm>
          <a:prstGeom prst="roundRect">
            <a:avLst>
              <a:gd name="adj" fmla="val 20000"/>
            </a:avLst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66928" y="13716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280160" y="137160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Authentication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560320" y="1371600"/>
            <a:ext cx="28529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by student/staff code; LOCKED accounts denied; role-based redirect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66928" y="1865376"/>
            <a:ext cx="658368" cy="274320"/>
          </a:xfrm>
          <a:prstGeom prst="roundRect">
            <a:avLst>
              <a:gd name="adj" fmla="val 20000"/>
            </a:avLst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66928" y="186537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280160" y="1865376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Catalogue &amp; Search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60320" y="1865376"/>
            <a:ext cx="28529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by keyword &amp; doc-type; filter available-only; full metadata display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2359152"/>
            <a:ext cx="658368" cy="274320"/>
          </a:xfrm>
          <a:prstGeom prst="roundRect">
            <a:avLst>
              <a:gd name="adj" fmla="val 20000"/>
            </a:avLst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66928" y="235915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280160" y="235915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 &amp; Loan Request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560320" y="2359152"/>
            <a:ext cx="28529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cart (max 5); 3-layer RuleEngine validation; creates AWAITING_PICKUP loan + 6-char pickup code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66928" y="2852928"/>
            <a:ext cx="658368" cy="274320"/>
          </a:xfrm>
          <a:prstGeom prst="roundRect">
            <a:avLst>
              <a:gd name="adj" fmla="val 20000"/>
            </a:avLst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66928" y="285292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FR-4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280160" y="2852928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Librarian Confirms Pickup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560320" y="2852928"/>
            <a:ext cx="28529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Reader brings pickup code to library; librarian enters at /librarian/loans/confirm-pickup → BORROWED + due_date per role × doc-type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66928" y="3346704"/>
            <a:ext cx="658368" cy="274320"/>
          </a:xfrm>
          <a:prstGeom prst="roundRect">
            <a:avLst>
              <a:gd name="adj" fmla="val 20000"/>
            </a:avLst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66928" y="334670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FR-5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280160" y="3346704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&amp; Fine Calc.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560320" y="3346704"/>
            <a:ext cx="28529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Librarian processes return; fine = overdue days × 2,000 VND; fine_paid tracked; loan COMPLETED when all settled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66928" y="3840480"/>
            <a:ext cx="658368" cy="274320"/>
          </a:xfrm>
          <a:prstGeom prst="roundRect">
            <a:avLst>
              <a:gd name="adj" fmla="val 20000"/>
            </a:avLst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66928" y="384048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FR-6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280160" y="384048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Renewal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560320" y="3840480"/>
            <a:ext cx="28529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Reader renews active loan; extends due_date by renewal_days; limited attempts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66928" y="4334256"/>
            <a:ext cx="658368" cy="274320"/>
          </a:xfrm>
          <a:prstGeom prst="roundRect">
            <a:avLst>
              <a:gd name="adj" fmla="val 20000"/>
            </a:avLst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66928" y="433425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FR-7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280160" y="4334256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&amp; Librarian Management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2560320" y="4334256"/>
            <a:ext cx="28529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Admin: user CRUD + functional permission matrix; Librarian: book CRUD + rules config + dashboard + in-house slips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69280" y="932688"/>
            <a:ext cx="3017520" cy="38862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779008" y="987552"/>
            <a:ext cx="2788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Non-Functional Requirements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779008" y="1371600"/>
            <a:ext cx="2788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779008" y="1609344"/>
            <a:ext cx="2788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RBAC: /admin/** → ADMIN, /librarian/** → LIBRARIAN, /client/** → reader roles (no role inheritance)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779008" y="2048256"/>
            <a:ext cx="2788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Integrity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779008" y="2286000"/>
            <a:ext cx="2788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@Transactional on all mutating services — atomic multi-step operations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779008" y="2724912"/>
            <a:ext cx="2788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Usability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779008" y="2962656"/>
            <a:ext cx="2788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5 responsive layout; inline validation error messages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5779008" y="3401568"/>
            <a:ext cx="2788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Portability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779008" y="3639312"/>
            <a:ext cx="2788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(dev, zero-config) ↔ MySQL (prod) switchable via application.properties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779008" y="4078224"/>
            <a:ext cx="2788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Maintainability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779008" y="4315968"/>
            <a:ext cx="2788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MVC layering — no business logic in controllers; rules in RuleEngine</a:t>
            </a:r>
            <a:endParaRPr lang="en-US" sz="10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146304"/>
            <a:ext cx="329184" cy="329184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46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 (MVC Layers)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768096"/>
            <a:ext cx="1097280" cy="50292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280160" y="914400"/>
            <a:ext cx="6583680" cy="658368"/>
          </a:xfrm>
          <a:prstGeom prst="roundRect">
            <a:avLst>
              <a:gd name="adj" fmla="val 13889"/>
            </a:avLst>
          </a:prstGeom>
          <a:solidFill>
            <a:srgbClr val="EBF3FB"/>
          </a:solidFill>
          <a:ln w="19050">
            <a:solidFill>
              <a:srgbClr val="2E5FA3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444752" y="969264"/>
            <a:ext cx="62544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Layer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44752" y="1216152"/>
            <a:ext cx="6254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ClientController · AdminController · LibrarianController · AuthController · AccountController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44568" y="1572768"/>
            <a:ext cx="54864" cy="914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280160" y="1664208"/>
            <a:ext cx="6583680" cy="658368"/>
          </a:xfrm>
          <a:prstGeom prst="roundRect">
            <a:avLst>
              <a:gd name="adj" fmla="val 13889"/>
            </a:avLst>
          </a:prstGeom>
          <a:solidFill>
            <a:srgbClr val="EAF4EA"/>
          </a:solidFill>
          <a:ln w="19050">
            <a:solidFill>
              <a:srgbClr val="1A7A4A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444752" y="1719072"/>
            <a:ext cx="62544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Logic Layer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44752" y="1965960"/>
            <a:ext cx="6254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LoanService · BookService · UserService · RuleService · NotificationService · PermissionService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44568" y="2322576"/>
            <a:ext cx="54864" cy="914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280160" y="2414016"/>
            <a:ext cx="6583680" cy="658368"/>
          </a:xfrm>
          <a:prstGeom prst="roundRect">
            <a:avLst>
              <a:gd name="adj" fmla="val 13889"/>
            </a:avLst>
          </a:prstGeom>
          <a:solidFill>
            <a:srgbClr val="FFF3CD"/>
          </a:solidFill>
          <a:ln w="19050">
            <a:solidFill>
              <a:srgbClr val="C9922A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444752" y="2468880"/>
            <a:ext cx="62544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Engine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44752" y="2715768"/>
            <a:ext cx="6254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RuleEngine — validate() · calculateDueDate() · canRenew() · calculateFine()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44568" y="3072384"/>
            <a:ext cx="54864" cy="914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280160" y="3163824"/>
            <a:ext cx="6583680" cy="658368"/>
          </a:xfrm>
          <a:prstGeom prst="roundRect">
            <a:avLst>
              <a:gd name="adj" fmla="val 13889"/>
            </a:avLst>
          </a:prstGeom>
          <a:solidFill>
            <a:srgbClr val="FEF9E7"/>
          </a:solidFill>
          <a:ln w="19050">
            <a:solidFill>
              <a:srgbClr val="C9922A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444752" y="3218688"/>
            <a:ext cx="62544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Access Layer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444752" y="3465576"/>
            <a:ext cx="6254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LoanRepository · BookRepository · UserRepository · LoanDetailRepository · BorrowingRuleRepository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44568" y="3822192"/>
            <a:ext cx="54864" cy="914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280160" y="3913632"/>
            <a:ext cx="6583680" cy="658368"/>
          </a:xfrm>
          <a:prstGeom prst="roundRect">
            <a:avLst>
              <a:gd name="adj" fmla="val 13889"/>
            </a:avLst>
          </a:prstGeom>
          <a:solidFill>
            <a:srgbClr val="FDF2F8"/>
          </a:solidFill>
          <a:ln w="19050">
            <a:solidFill>
              <a:srgbClr val="8E44AD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444752" y="3968496"/>
            <a:ext cx="62544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Layer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444752" y="4215384"/>
            <a:ext cx="6254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In-Memory (dev)  ·  MySQL 8.0 (prod)  —  8 core tables, auto-seeded via data.sql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001000" y="969264"/>
            <a:ext cx="10789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MVC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Thymeleaf · Bootstrap 5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001000" y="1719072"/>
            <a:ext cx="10789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@Service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@Transactional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001000" y="2395728"/>
            <a:ext cx="10789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@Component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Bean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001000" y="3090672"/>
            <a:ext cx="10789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Data JPA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Hibernate ORM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001000" y="3785616"/>
            <a:ext cx="10789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JDBC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ddl-auto: create-drop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146304"/>
            <a:ext cx="329184" cy="329184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46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7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Model — 8 Core Tables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768096"/>
            <a:ext cx="1097280" cy="50292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856209"/>
            <a:ext cx="2606040" cy="2039112"/>
          </a:xfrm>
          <a:prstGeom prst="roundRect">
            <a:avLst>
              <a:gd name="adj" fmla="val 4762"/>
            </a:avLst>
          </a:prstGeom>
          <a:solidFill>
            <a:srgbClr val="EBF3FB"/>
          </a:solidFill>
          <a:ln w="19050">
            <a:solidFill>
              <a:srgbClr val="2E5FA3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856209"/>
            <a:ext cx="2606040" cy="347472"/>
          </a:xfrm>
          <a:prstGeom prst="roundRect">
            <a:avLst>
              <a:gd name="adj" fmla="val 26316"/>
            </a:avLst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" y="874497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1240257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  PK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0" y="1459713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student_code  UNIQUE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8640" y="1679169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full_name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1898625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password_hash  BCrypt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86526" y="2122653"/>
            <a:ext cx="1831703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role(STUDENT|LECTURER|RESEARCHER|LIBRARIAN|ADMIN)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30352" y="2447265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card_status  (ACTIVE|LOCKED)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30352" y="2653005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created_at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310128" y="856209"/>
            <a:ext cx="2606040" cy="2039112"/>
          </a:xfrm>
          <a:prstGeom prst="roundRect">
            <a:avLst>
              <a:gd name="adj" fmla="val 4762"/>
            </a:avLst>
          </a:prstGeom>
          <a:solidFill>
            <a:srgbClr val="EAF4EA"/>
          </a:solidFill>
          <a:ln w="19050">
            <a:solidFill>
              <a:srgbClr val="1A7A4A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310128" y="856209"/>
            <a:ext cx="2606040" cy="347472"/>
          </a:xfrm>
          <a:prstGeom prst="roundRect">
            <a:avLst>
              <a:gd name="adj" fmla="val 26316"/>
            </a:avLst>
          </a:prstGeom>
          <a:solidFill>
            <a:srgbClr val="1A7A4A"/>
          </a:solidFill>
          <a:ln w="1270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401568" y="874497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401568" y="1240257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  PK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401568" y="1459713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title · author · isbn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525375" y="1664367"/>
            <a:ext cx="217554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</a:t>
            </a:r>
            <a:r>
              <a:rPr lang="en-US" sz="95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_type(</a:t>
            </a: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TEXTBOOK|SPEC_REF|GENERAL_REF|RESTRICTED)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375152" y="2003781"/>
            <a:ext cx="2670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total_copies · available_copies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375152" y="2236953"/>
            <a:ext cx="26436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classification_code · category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375152" y="2470059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publisher · publish_year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75152" y="2689515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description  TEXT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163056" y="856209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FEF9E7"/>
          </a:solidFill>
          <a:ln w="19050">
            <a:solidFill>
              <a:srgbClr val="C9922A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6163056" y="856209"/>
            <a:ext cx="2606040" cy="347472"/>
          </a:xfrm>
          <a:prstGeom prst="roundRect">
            <a:avLst>
              <a:gd name="adj" fmla="val 26316"/>
            </a:avLst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254496" y="874497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126480" y="1243979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  PK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126480" y="1463435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user_id  FK→users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26480" y="1682891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created_at · pickup_code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92088" y="1888812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pickup</a:t>
            </a: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_deadline · picked_up_at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292088" y="2053223"/>
            <a:ext cx="254116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status(AWAITING_PICKUP|BORROWED|COMPLETED|CANCELLED)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126480" y="2337537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in_house  BOOLEAN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126480" y="2547180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cancel_reason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1097280" y="3005052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FDF2F8"/>
          </a:solidFill>
          <a:ln w="19050">
            <a:solidFill>
              <a:srgbClr val="8E44AD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1097280" y="3005052"/>
            <a:ext cx="2606040" cy="347472"/>
          </a:xfrm>
          <a:prstGeom prst="roundRect">
            <a:avLst>
              <a:gd name="adj" fmla="val 26316"/>
            </a:avLst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1188720" y="3023340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loan_details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1188720" y="3389100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  PK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1188720" y="3608556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loan_id  FK→loans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1188720" y="3828012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book_id  FK→books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1188720" y="4047468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due_date · return_date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1188720" y="4266924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renewal_count  DEFAULT 0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1188720" y="4486380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fine_amount · fine_paid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1188720" y="4705836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condition_status · status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3950208" y="3005052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F0F0FF"/>
          </a:solidFill>
          <a:ln w="19050">
            <a:solidFill>
              <a:srgbClr val="1B2A4A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3950208" y="3005052"/>
            <a:ext cx="2606040" cy="347472"/>
          </a:xfrm>
          <a:prstGeom prst="roundRect">
            <a:avLst>
              <a:gd name="adj" fmla="val 2631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4041648" y="3023340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borrowing_rules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3897412" y="3439369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  PK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3897412" y="3658825"/>
            <a:ext cx="28081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user_role  UNIQUE(role, doc_type)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3897412" y="3878281"/>
            <a:ext cx="282723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doc_type  UNIQUE(role, doc_type)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3897412" y="4097737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max_quantity  INT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3897412" y="4317193"/>
            <a:ext cx="22128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borrow_</a:t>
            </a:r>
            <a:r>
              <a:rPr lang="en-US" sz="95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days  NULLABLE </a:t>
            </a:r>
            <a:r>
              <a:rPr lang="vi-VN" sz="95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r>
              <a:rPr lang="en-US" sz="95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NULL=unlimited)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3897412" y="4536649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max_renewals · renewal_days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457200" y="4889543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1:N loans 1:N loan_details N:1 books  |  + role_permissions, notifications, loan_renewals (3 support tables)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146304"/>
            <a:ext cx="329184" cy="329184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46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8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Features — Part 1: Client Portal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768096"/>
            <a:ext cx="1097280" cy="50292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932688"/>
            <a:ext cx="2670048" cy="148132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85216" y="1042416"/>
            <a:ext cx="347472" cy="347472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85216" y="1042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102412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&amp; Search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85216" y="1444752"/>
            <a:ext cx="241401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search (title/author/ISBN), filter by doc-type, availability filter — with overdue warning banner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85216" y="2139696"/>
            <a:ext cx="241401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99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/client/home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355848" y="932688"/>
            <a:ext cx="2670048" cy="148132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483864" y="1042416"/>
            <a:ext cx="347472" cy="347472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483864" y="1042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904488" y="102412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Detail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83864" y="1444752"/>
            <a:ext cx="241401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metadata: ISBN, classification code, publisher, year, description, availability status, add-to-cart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83864" y="2139696"/>
            <a:ext cx="241401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99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/client/books/{id}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254496" y="932688"/>
            <a:ext cx="2670048" cy="148132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382512" y="1042416"/>
            <a:ext cx="347472" cy="347472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382512" y="1042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03136" y="102412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 Management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382512" y="1444752"/>
            <a:ext cx="241401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Add/remove/clear books in session cart. Enforces 5-item cap. Shows availability &amp; doc-type warnings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382512" y="2139696"/>
            <a:ext cx="241401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99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/client/cart/**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2596896"/>
            <a:ext cx="2670048" cy="148132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585216" y="2706624"/>
            <a:ext cx="347472" cy="347472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85216" y="2706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05840" y="268833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Loan Request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85216" y="3108960"/>
            <a:ext cx="241401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3-layer RuleEngine validation → creates AWAITING_PICKUP loan + 6-char pickup code + 24h deadline; holds copies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85216" y="3803904"/>
            <a:ext cx="241401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99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/client/loans/submit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355848" y="2596896"/>
            <a:ext cx="2670048" cy="148132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3483864" y="2706624"/>
            <a:ext cx="347472" cy="347472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3483864" y="2706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904488" y="268833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Loans &amp; History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483864" y="3108960"/>
            <a:ext cx="241401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all loans by status. Active items show due-date countdown. Overdue items highlighted with fine estimate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3483864" y="3803904"/>
            <a:ext cx="241401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99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/client/my-loans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254496" y="2596896"/>
            <a:ext cx="2670048" cy="148132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6382512" y="2706624"/>
            <a:ext cx="347472" cy="347472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6382512" y="2706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803136" y="268833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 Book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382512" y="3108960"/>
            <a:ext cx="241401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Verifies ownership + BORROWING status + renewal quota. Extends due_date by renewal_days (3 days)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382512" y="3803904"/>
            <a:ext cx="241401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99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/client/loans/renew/{id}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146304"/>
            <a:ext cx="329184" cy="329184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46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9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Features — Part 2: Admin / Librarian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768096"/>
            <a:ext cx="1097280" cy="50292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932688"/>
            <a:ext cx="2670048" cy="1828096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85216" y="1042416"/>
            <a:ext cx="347472" cy="347472"/>
          </a:xfrm>
          <a:prstGeom prst="ellipse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85216" y="1042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102412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85216" y="1444752"/>
            <a:ext cx="241401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Awaiting-pickup count, active borrowings, overdue items, in-house readings; links to each queue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85216" y="2274514"/>
            <a:ext cx="241401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99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/librarian/dashboard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355848" y="932687"/>
            <a:ext cx="2670048" cy="1828097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483864" y="1042416"/>
            <a:ext cx="347472" cy="347472"/>
          </a:xfrm>
          <a:prstGeom prst="ellipse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483864" y="1042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904488" y="102412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Pickup Orders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83864" y="1444752"/>
            <a:ext cx="241401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AWAITING_PICKUP list with pickup codes and 24 h deadlines for reference; enter pickup code to confirm handover when reader arrives at counter; can cancel order with mandatory reason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83864" y="2385876"/>
            <a:ext cx="241401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99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/librarian/loans?status=AWAITING_PICKUP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254496" y="932688"/>
            <a:ext cx="2670048" cy="1828096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382512" y="1042416"/>
            <a:ext cx="347472" cy="347472"/>
          </a:xfrm>
          <a:prstGeom prst="ellipse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382512" y="1042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03136" y="102412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Librarian Confirms Pickup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382512" y="1444752"/>
            <a:ext cx="241401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Librarian enters reader's pickup code; system finds AWAITING_PICKUP loan → BORROWED + due_date per role × doc-type; reader notified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382512" y="2303822"/>
            <a:ext cx="241401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99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/librarian/loans/confirm-pickup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2831353"/>
            <a:ext cx="2670048" cy="1786365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585216" y="2941082"/>
            <a:ext cx="347472" cy="347472"/>
          </a:xfrm>
          <a:prstGeom prst="ellipse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85216" y="294108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05840" y="2922794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Order (Reader / Librarian / Scheduler)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85216" y="3343418"/>
            <a:ext cx="241401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Reader self-cancels before pickup; librarian cancels with mandatory reason; scheduler auto-cancels after 24h; all restore held copies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85216" y="4229554"/>
            <a:ext cx="241401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99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/client/loans/{id}/cancel  ·  POST /librarian/loans/{id}/cancel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355848" y="2831354"/>
            <a:ext cx="2670048" cy="1786366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3483864" y="2941082"/>
            <a:ext cx="347472" cy="347472"/>
          </a:xfrm>
          <a:prstGeom prst="ellipse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3483864" y="294108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904488" y="2922794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Return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483864" y="3343418"/>
            <a:ext cx="241401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Librarian records condition (GOOD/DAMAGED), computes fine (overdue days × 2,000 VND), restores copy; loan → COMPLETED when all items returned &amp; fines paid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3483864" y="4261106"/>
            <a:ext cx="241401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99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/librarian/loans/details/{id}/return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254496" y="2831353"/>
            <a:ext cx="2670048" cy="1786366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6382512" y="2941082"/>
            <a:ext cx="347472" cy="347472"/>
          </a:xfrm>
          <a:prstGeom prst="ellipse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6382512" y="294108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803136" y="2922794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&amp; Stock Management + Borrowing Rules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382512" y="3343418"/>
            <a:ext cx="241401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Librarian: book CRUD + Excel bulk import; edit borrowing-rule matrix &amp; doc-type visibility; issue in-house reading slips for RESTRICTED docs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382512" y="4179046"/>
            <a:ext cx="241401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99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GET/POST /librarian/books/**  ·  /librarian/rules  ·  /librarian/inhouse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23760" y="4715692"/>
            <a:ext cx="1691640" cy="384048"/>
          </a:xfrm>
          <a:prstGeom prst="roundRect">
            <a:avLst>
              <a:gd name="adj" fmla="val 19048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7223760" y="4715692"/>
            <a:ext cx="1691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30 Features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146304"/>
            <a:ext cx="329184" cy="329184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46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10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768096"/>
            <a:ext cx="1097280" cy="50292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932688"/>
            <a:ext cx="2029968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66928" y="987552"/>
            <a:ext cx="1810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170432"/>
            <a:ext cx="18105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66928" y="1481328"/>
            <a:ext cx="18105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Records, sealed classes, pattern matching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642616" y="932688"/>
            <a:ext cx="2029968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752344" y="987552"/>
            <a:ext cx="1810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752344" y="1170432"/>
            <a:ext cx="18105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3.4.13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52344" y="1481328"/>
            <a:ext cx="18105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MVC · Spring Security · Spring Data JPA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828032" y="932688"/>
            <a:ext cx="2029968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937760" y="987552"/>
            <a:ext cx="1810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Engine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937760" y="1170432"/>
            <a:ext cx="18105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Thymeleaf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937760" y="1481328"/>
            <a:ext cx="18105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HTML rendering + Security extras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013448" y="932688"/>
            <a:ext cx="2029968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123176" y="987552"/>
            <a:ext cx="1810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123176" y="1170432"/>
            <a:ext cx="18105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Hibernate / JPA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123176" y="1481328"/>
            <a:ext cx="18105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DDL, H2 seed, MySQL dialect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" y="2048256"/>
            <a:ext cx="2029968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66928" y="2103120"/>
            <a:ext cx="1810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— Dev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66928" y="2286000"/>
            <a:ext cx="18105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In-Memory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66928" y="2596896"/>
            <a:ext cx="18105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Zero-config; auto-recreated on restart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642616" y="2048256"/>
            <a:ext cx="2029968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2752344" y="2103120"/>
            <a:ext cx="1810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— Prod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752344" y="2286000"/>
            <a:ext cx="18105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8.0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2752344" y="2596896"/>
            <a:ext cx="18105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via application.properties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828032" y="2048256"/>
            <a:ext cx="2029968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937760" y="2103120"/>
            <a:ext cx="1810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937760" y="2286000"/>
            <a:ext cx="18105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Security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937760" y="2596896"/>
            <a:ext cx="18105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passwords · Form login · RBAC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7013448" y="2048256"/>
            <a:ext cx="2029968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7123176" y="2103120"/>
            <a:ext cx="1810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Framework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123176" y="2286000"/>
            <a:ext cx="18105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5.3.2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123176" y="2596896"/>
            <a:ext cx="18105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grid + Bootstrap Icons 1.11.3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57200" y="3163824"/>
            <a:ext cx="2029968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566928" y="3218688"/>
            <a:ext cx="1810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66928" y="3401568"/>
            <a:ext cx="18105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Bean Validation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66928" y="3712464"/>
            <a:ext cx="18105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@NotBlank, @Min, @Email on DTOs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642616" y="3163824"/>
            <a:ext cx="2029968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2752344" y="3218688"/>
            <a:ext cx="1810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Tool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2752344" y="3401568"/>
            <a:ext cx="18105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 3.8+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2752344" y="3712464"/>
            <a:ext cx="18105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pom.xml — Spring Boot parent POM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28032" y="3163824"/>
            <a:ext cx="2029968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937760" y="3218688"/>
            <a:ext cx="1810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Quality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937760" y="3401568"/>
            <a:ext cx="18105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Lombok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937760" y="3712464"/>
            <a:ext cx="18105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@Data, @NoArgsConstructor, @AllArgsConstructor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13448" y="3163824"/>
            <a:ext cx="2029968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7123176" y="3218688"/>
            <a:ext cx="1810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123176" y="3401568"/>
            <a:ext cx="18105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IntelliJ IDEA 2023+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7123176" y="3712464"/>
            <a:ext cx="18105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or Ultimate; VS Code alternative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146304"/>
            <a:ext cx="329184" cy="329184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46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 Highlights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768096"/>
            <a:ext cx="1097280" cy="50292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932688"/>
            <a:ext cx="4069080" cy="4005072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66928" y="987552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3-Layer RuleEngine Validation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1335024"/>
            <a:ext cx="3840480" cy="3040380"/>
          </a:xfrm>
          <a:prstGeom prst="roundRect">
            <a:avLst>
              <a:gd name="adj" fmla="val 3361"/>
            </a:avLst>
          </a:prstGeom>
          <a:solidFill>
            <a:srgbClr val="1E1E2E"/>
          </a:solidFill>
          <a:ln w="12700">
            <a:solidFill>
              <a:srgbClr val="3333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58368" y="1389888"/>
            <a:ext cx="3657600" cy="20665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Layer 1 — Account checks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(user.cardStatus == LOCKED)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errors.add("Account locked.");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(hasOverdueItems(user))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errors.add("N overdue — return first.");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Layer 2 — Cart size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(cart.isEmpty()) errors.add("Cart is empty.");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(cart.size() &gt; 5)  errors.add("Max 5 items.");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Layer 3 — Per-type quota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(DocType type : countByType)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(type == RESTRICTED)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errors.add("In-library use only.");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(count &gt; rule.maxQuantity)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errors.add("Quota exceeded.");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30352" y="4425696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ValidationResult with a list of human-readable errors. Controllers only check result.isValid() — zero business logic in HTTP layer.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54880" y="932688"/>
            <a:ext cx="3931920" cy="4005072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64608" y="987552"/>
            <a:ext cx="3703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Calculation &amp; Renewal Logic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864608" y="1335024"/>
            <a:ext cx="3703320" cy="1554480"/>
          </a:xfrm>
          <a:prstGeom prst="roundRect">
            <a:avLst>
              <a:gd name="adj" fmla="val 4706"/>
            </a:avLst>
          </a:prstGeom>
          <a:solidFill>
            <a:srgbClr val="1E1E2E"/>
          </a:solidFill>
          <a:ln w="12700">
            <a:solidFill>
              <a:srgbClr val="3333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956048" y="1389888"/>
            <a:ext cx="3520440" cy="1444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Fine: 2,000 VND per overdue day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long calculateFine(LoanDetail d)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(d.dueDate == null) return 0;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LocalDate ret = d.returnDate != null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? d.returnDate.toLocalDate()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LocalDate.now();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(!ret.isAfter(d.dueDate)) return 0;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long days = DAYS.between(d.dueDate, ret);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days * 2000L; // VND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864608" y="2962656"/>
            <a:ext cx="3703320" cy="1248156"/>
          </a:xfrm>
          <a:prstGeom prst="roundRect">
            <a:avLst>
              <a:gd name="adj" fmla="val 7018"/>
            </a:avLst>
          </a:prstGeom>
          <a:solidFill>
            <a:srgbClr val="1E1E2E"/>
          </a:solidFill>
          <a:ln w="12700">
            <a:solidFill>
              <a:srgbClr val="3333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956048" y="3017520"/>
            <a:ext cx="3520440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Renewal guard (3 bugs prevented)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boolean canRenew(LoanDetail d, Rule r)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(r.maxRenewals == 0) return false;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(d.status != BORROWING) return false; // Bug #3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Bug #2: ownership check in controller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d.renewalCount &lt; r.maxRenewals;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64608" y="4265676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methods are stateless — easy to unit test without database access.</a:t>
            </a:r>
            <a:endParaRPr lang="en-US" sz="10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146304"/>
            <a:ext cx="329184" cy="329184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46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 &amp; Validation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768096"/>
            <a:ext cx="1097280" cy="50292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932688"/>
            <a:ext cx="8686800" cy="329184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93776" y="950976"/>
            <a:ext cx="429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96696" y="950976"/>
            <a:ext cx="26243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94176" y="950976"/>
            <a:ext cx="5852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352544" y="950976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261872"/>
            <a:ext cx="868680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93776" y="1298448"/>
            <a:ext cx="429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T-01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96696" y="1298448"/>
            <a:ext cx="26243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borrows 1 textbook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94176" y="1298448"/>
            <a:ext cx="5852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52544" y="129844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status = AWAITING_PICKUP; pickup code issued; available_copies -1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1627632"/>
            <a:ext cx="8686800" cy="338328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93776" y="1664208"/>
            <a:ext cx="429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T-02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96696" y="1664208"/>
            <a:ext cx="26243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 account cannot borrow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694176" y="1664208"/>
            <a:ext cx="5852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52544" y="16642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Error: 'Account locked. Contact librarian.'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1993392"/>
            <a:ext cx="868680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93776" y="2029968"/>
            <a:ext cx="429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T-03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96696" y="2029968"/>
            <a:ext cx="26243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 limit enforced (6 books)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694176" y="2029968"/>
            <a:ext cx="5852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352544" y="202996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6th book rejected; max 5 message shown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" y="2359152"/>
            <a:ext cx="8686800" cy="338328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93776" y="2395728"/>
            <a:ext cx="429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T-04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96696" y="2395728"/>
            <a:ext cx="26243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book blocked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694176" y="2395728"/>
            <a:ext cx="5852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352544" y="23957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error: 'In-library use only'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2724912"/>
            <a:ext cx="868680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93776" y="2761488"/>
            <a:ext cx="429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T-05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996696" y="2761488"/>
            <a:ext cx="26243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Librarian confirms pickup — due date set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694176" y="2761488"/>
            <a:ext cx="5852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352544" y="27614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Librarian enters code → BORROWED; due_date = pickup_date + 150 days (STUDENT/TEXTBOOK)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3090672"/>
            <a:ext cx="8686800" cy="338328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93776" y="3127248"/>
            <a:ext cx="429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T-06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996696" y="3127248"/>
            <a:ext cx="26243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on time — no fine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694176" y="3127248"/>
            <a:ext cx="5852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352544" y="312724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fine_amount = 0; copies restored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57200" y="3456432"/>
            <a:ext cx="868680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493776" y="3493008"/>
            <a:ext cx="429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T-07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96696" y="3493008"/>
            <a:ext cx="26243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overdue — fine calculated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694176" y="3493008"/>
            <a:ext cx="5852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352544" y="34930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= overdue_days × 2,000 VND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57200" y="3822192"/>
            <a:ext cx="8686800" cy="338328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93776" y="3858768"/>
            <a:ext cx="429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T-08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996696" y="3858768"/>
            <a:ext cx="26243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 SPECIALIZED_REF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694176" y="3858768"/>
            <a:ext cx="5852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4352544" y="385876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due_date +3 days; renewal_count = 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" y="4187952"/>
            <a:ext cx="868680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493776" y="4224528"/>
            <a:ext cx="429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T-09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996696" y="4224528"/>
            <a:ext cx="26243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renew after max renewals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694176" y="4224528"/>
            <a:ext cx="5852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4352544" y="42245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after 2nd renewal attempt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57200" y="4553712"/>
            <a:ext cx="8686800" cy="338328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493776" y="4590288"/>
            <a:ext cx="429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T-10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996696" y="4590288"/>
            <a:ext cx="26243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loan restores stock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3694176" y="4590288"/>
            <a:ext cx="5852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4352544" y="45902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available_copies +1 for each book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6446520" y="4764024"/>
            <a:ext cx="2697480" cy="292608"/>
          </a:xfrm>
          <a:prstGeom prst="roundRect">
            <a:avLst>
              <a:gd name="adj" fmla="val 18750"/>
            </a:avLst>
          </a:prstGeom>
          <a:solidFill>
            <a:srgbClr val="1A7A4A"/>
          </a:solidFill>
          <a:ln w="1270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6446520" y="4764024"/>
            <a:ext cx="2697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 scenarios PASSED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146304"/>
            <a:ext cx="329184" cy="329184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46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&amp; Solutions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768096"/>
            <a:ext cx="1097280" cy="50292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932688"/>
            <a:ext cx="8229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66928" y="1042416"/>
            <a:ext cx="804672" cy="237744"/>
          </a:xfrm>
          <a:prstGeom prst="roundRect">
            <a:avLst>
              <a:gd name="adj" fmla="val 23077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66928" y="1042416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444752" y="996696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#1  —  cancelLoan() — LazyInitializationException + data not saved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66928" y="1298448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AdminController called loan.getLoanDetails() on a detached entity outside @Transactional, then called setStatus() without save(). Loan was never actually cancelled in the database.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617720" y="1298448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Moved cancel logic to LoanService.cancelLoan() with @Transactional. Uses loanDetailRepository.findByLoan() to avoid lazy load issue. Persists loan via loanRepository.save().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1956816"/>
            <a:ext cx="8229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66928" y="2066544"/>
            <a:ext cx="804672" cy="237744"/>
          </a:xfrm>
          <a:prstGeom prst="roundRect">
            <a:avLst>
              <a:gd name="adj" fmla="val 23077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66928" y="206654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444752" y="2020824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#2  —  renewBook() — any user could renew any loan (IDOR)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66928" y="2322576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The /client/loans/renew/{id} endpoint accepted any numeric LoanDetail ID without verifying the authenticated user was the owner — a security vulnerability (IDOR).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617720" y="2322576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Added ownership guard: detail.getLoan().getUser().getId().equals(user.getId()). Request rejected with HTTP 403 if mismatch.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2980944"/>
            <a:ext cx="8229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66928" y="3090672"/>
            <a:ext cx="804672" cy="237744"/>
          </a:xfrm>
          <a:prstGeom prst="roundRect">
            <a:avLst>
              <a:gd name="adj" fmla="val 23077"/>
            </a:avLst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66928" y="3090672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444752" y="3044952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#3  —  renewBook() — allowed renewal of already-returned items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66928" y="3346704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renewBook() did not check LoanDetail.status before extending due_date. A reader could renew a book they had already returned, corrupting the return record.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617720" y="3346704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Added status guard: if (detail.getStatus() != BORROWING) return false; before any renewal logic executes.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57200" y="4005072"/>
            <a:ext cx="8229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566928" y="4114800"/>
            <a:ext cx="804672" cy="237744"/>
          </a:xfrm>
          <a:prstGeom prst="roundRect">
            <a:avLst>
              <a:gd name="adj" fmla="val 23077"/>
            </a:avLst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66928" y="411480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444752" y="4069080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 —  Rule configuration vs. hard-coded business logic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66928" y="4370832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Borrowing rules (quota, duration, renewals) differ for 3 × 4 = 12 combinations. Embedding these in code would make changes require redeployment.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617720" y="4370832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Created borrowing_rules database table. RuleEngine reads rules at runtime — admin can reconfigure limits without touching code.</a:t>
            </a:r>
            <a:endParaRPr lang="en-US" sz="9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146304"/>
            <a:ext cx="329184" cy="329184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46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&amp; Achievements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768096"/>
            <a:ext cx="1097280" cy="50292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932688"/>
            <a:ext cx="1261872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1005840"/>
            <a:ext cx="12618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E5F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12618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847088" y="932688"/>
            <a:ext cx="1261872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847088" y="1005840"/>
            <a:ext cx="12618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E5F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847088" y="1554480"/>
            <a:ext cx="12618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36976" y="932688"/>
            <a:ext cx="1261872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36976" y="1005840"/>
            <a:ext cx="12618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E5F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3236976" y="1554480"/>
            <a:ext cx="12618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Borrowing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(QT.03)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26864" y="932688"/>
            <a:ext cx="1261872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626864" y="1005840"/>
            <a:ext cx="12618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E5F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4626864" y="1554480"/>
            <a:ext cx="12618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Scenarios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Passed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016752" y="932688"/>
            <a:ext cx="1261872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016752" y="1005840"/>
            <a:ext cx="12618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E5F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6016752" y="1554480"/>
            <a:ext cx="12618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Bugs Found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Fixed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406640" y="932688"/>
            <a:ext cx="1261872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406640" y="1005840"/>
            <a:ext cx="12618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E5F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7406640" y="1554480"/>
            <a:ext cx="12618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2286000"/>
            <a:ext cx="4069080" cy="2711196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66928" y="2340864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Deliverables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66928" y="2688336"/>
            <a:ext cx="3840480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MVC application — clean 5-layer architecture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RuleEngine — stateless, single-responsibility component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borrowing lifecycle: browse → cart → submit → pickup code → librarian confirms → return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dev DB auto-seeded with 82 users, 24 books, 12 rules, permissions &amp; sample loans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MySQL-compatible schema — production-ready with config change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bugs fixed: critical data loss, security IDOR, logic error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754880" y="2286000"/>
            <a:ext cx="3931920" cy="2711196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864608" y="2340864"/>
            <a:ext cx="3703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Achievement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864608" y="2688336"/>
            <a:ext cx="3703320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compliance with QT.03.TV.DV regulation (12/12 rules verified)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8 steps of the official borrowing process implemented or noted N/A (physical steps)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reader types × 4 document types — all combinations handled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fine rate embedded: 2,000 VND/day overdue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suspended/locked via card_status enforcement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Supervisor: TS. Nguyễn Thanh Bình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01168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 &amp; Future Work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749808"/>
            <a:ext cx="1097280" cy="45720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932688"/>
            <a:ext cx="3977640" cy="2148840"/>
          </a:xfrm>
          <a:prstGeom prst="roundRect">
            <a:avLst>
              <a:gd name="adj" fmla="val 4255"/>
            </a:avLst>
          </a:prstGeom>
          <a:solidFill>
            <a:srgbClr val="1E3258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66928" y="98755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Achieved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66928" y="1325880"/>
            <a:ext cx="3749040" cy="16642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C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Java web app from scratch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C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regulation → working software (QT.03.TV.DV)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C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ecosystem: Security, JPA, MVC, Scheduling, Thymeleaf in one project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C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 and fixed 3 real bugs systematically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C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On-screen configuration: admin permission matrix + librarian rule &amp; visibility editor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09160" y="932688"/>
            <a:ext cx="3977640" cy="2148840"/>
          </a:xfrm>
          <a:prstGeom prst="roundRect">
            <a:avLst>
              <a:gd name="adj" fmla="val 4255"/>
            </a:avLst>
          </a:prstGeom>
          <a:solidFill>
            <a:srgbClr val="1E3258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818888" y="98755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Roadmap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18888" y="1325880"/>
            <a:ext cx="3749040" cy="16642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C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code for pickup confirmation (render 6-char code as scannable QR)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C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/ Flyway — persistent production database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C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Overdue email notifications (@Scheduled task)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C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OPAC search (author, ISBN, year fields)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C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 queue + renewal conflict detection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C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/ PDF export for semester borrowing reports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182112"/>
            <a:ext cx="8229600" cy="658368"/>
          </a:xfrm>
          <a:prstGeom prst="roundRect">
            <a:avLst>
              <a:gd name="adj" fmla="val 13889"/>
            </a:avLst>
          </a:prstGeom>
          <a:solidFill>
            <a:srgbClr val="162240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94360" y="3236976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Limitations: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011680" y="3236976"/>
            <a:ext cx="6492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automated overdue emails  ·  H2 is non-persistent (data resets on restart)  ·  No reservation queue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94360" y="3493008"/>
            <a:ext cx="7955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QR pickup code  ·  No mobile-native app  ·  Overdue reminder emails not yet configured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0" y="4005072"/>
            <a:ext cx="3657600" cy="877824"/>
          </a:xfrm>
          <a:prstGeom prst="roundRect">
            <a:avLst>
              <a:gd name="adj" fmla="val 12500"/>
            </a:avLst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743200" y="4005072"/>
            <a:ext cx="365760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you! Questions &amp; Demo</a:t>
            </a:r>
            <a:endParaRPr lang="en-US" sz="1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9Slide.vn</Template>
  <TotalTime>114</TotalTime>
  <Words>4054</Words>
  <Application>Microsoft Office PowerPoint</Application>
  <PresentationFormat>On-screen Show (16:9)</PresentationFormat>
  <Paragraphs>546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>9Slide.vn</Manager>
  <Company>9Slide.vn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9Slide.vn</dc:title>
  <dc:subject>9Slide.vn</dc:subject>
  <dc:creator>Van</dc:creator>
  <dc:description>9Slide.vn</dc:description>
  <cp:lastModifiedBy>Le Ha Hai Van 20233886</cp:lastModifiedBy>
  <cp:revision>48</cp:revision>
  <dcterms:created xsi:type="dcterms:W3CDTF">2026-06-17T13:35:38Z</dcterms:created>
  <dcterms:modified xsi:type="dcterms:W3CDTF">2026-06-24T06:44:35Z</dcterms:modified>
  <cp:category>9Slide.vn</cp:category>
</cp:coreProperties>
</file>